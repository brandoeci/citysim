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B9FFF"/>
                </a:solidFill>
                <a:latin typeface="Segoe UI"/>
              </a:rPr>
              <a:t>ARQUITECTURAS DE SOFTWARE · SUSTENTACIÓN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E0E4FF"/>
                </a:solidFill>
                <a:latin typeface="Segoe UI"/>
              </a:rPr>
              <a:t>CitySim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A8B2E0"/>
                </a:solidFill>
                <a:latin typeface="Segoe UI"/>
              </a:rPr>
              <a:t>Simulador de tráfico urbano distribuido en tiempo real,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A8B2E0"/>
                </a:solidFill>
                <a:latin typeface="Segoe UI"/>
              </a:rPr>
              <a:t>con salas multiusuario sobre arquitectura Space-Based (SBA)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480560"/>
            <a:ext cx="201168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8B2E0"/>
                </a:solidFill>
                <a:latin typeface="Segoe UI"/>
              </a:rPr>
              <a:t>Universidad Escuela Colombiana de Ingeniería Julio Garavito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8B2E0"/>
                </a:solidFill>
                <a:latin typeface="Segoe UI"/>
              </a:rPr>
              <a:t>Intersemestral 2026  ·  Profesor Rodrigo Gualtero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5760720"/>
            <a:ext cx="256032" cy="256032"/>
          </a:xfrm>
          <a:prstGeom prst="ellipse">
            <a:avLst/>
          </a:prstGeom>
          <a:solidFill>
            <a:srgbClr val="3D5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5760720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20" y="5760720"/>
            <a:ext cx="256032" cy="256032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57400" y="5760720"/>
            <a:ext cx="256032" cy="25603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68880" y="5760720"/>
            <a:ext cx="256032" cy="25603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80360" y="5760720"/>
            <a:ext cx="256032" cy="25603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1 · CONTEXTO Y REQUERIMIENTOS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El problema y la propuesta de valor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BDF8"/>
                </a:solidFill>
                <a:latin typeface="Segoe UI"/>
              </a:rPr>
              <a:t>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39496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4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450" b="0" i="0">
                <a:solidFill>
                  <a:srgbClr val="E0E4FF"/>
                </a:solidFill>
                <a:latin typeface="Segoe UI"/>
              </a:rPr>
              <a:t>Gestionar tráfico urbano es un problema distribuido:</a:t>
            </a:r>
            <a:r>
              <a:rPr sz="1350" b="0" i="0">
                <a:solidFill>
                  <a:srgbClr val="A8B2E0"/>
                </a:solidFill>
                <a:latin typeface="Segoe UI"/>
              </a:rPr>
              <a:t>  muchos agentes (carros), muchos actores concurrentes (administradores).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450" b="0" i="0">
                <a:solidFill>
                  <a:srgbClr val="E0E4FF"/>
                </a:solidFill>
                <a:latin typeface="Segoe UI"/>
              </a:rPr>
              <a:t>En un salón de clase</a:t>
            </a:r>
            <a:r>
              <a:rPr sz="1350" b="0" i="0">
                <a:solidFill>
                  <a:srgbClr val="A8B2E0"/>
                </a:solidFill>
                <a:latin typeface="Segoe UI"/>
              </a:rPr>
              <a:t>  no hay forma práctica de que 20 estudiantes practiquen gestión de tráfico sobre la MISMA ciudad sin pisarse.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450" b="0" i="0">
                <a:solidFill>
                  <a:srgbClr val="E0E4FF"/>
                </a:solidFill>
                <a:latin typeface="Segoe UI"/>
              </a:rPr>
              <a:t>El curso pide un caso de uso en tiempo real</a:t>
            </a:r>
            <a:r>
              <a:rPr sz="1350" b="0" i="0">
                <a:solidFill>
                  <a:srgbClr val="A8B2E0"/>
                </a:solidFill>
                <a:latin typeface="Segoe UI"/>
              </a:rPr>
              <a:t>  verificable: aquí es la simulación viva del tráfico, no un CRUD.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C55E"/>
                </a:solidFill>
                <a:latin typeface="Segoe UI"/>
              </a:rPr>
              <a:t>Propuesta de valor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74519"/>
            <a:ext cx="539496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4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450" b="0" i="0">
                <a:solidFill>
                  <a:srgbClr val="E0E4FF"/>
                </a:solidFill>
                <a:latin typeface="Segoe UI"/>
              </a:rPr>
              <a:t>Salas (rooms) independientes:</a:t>
            </a:r>
            <a:r>
              <a:rPr sz="1350" b="0" i="0">
                <a:solidFill>
                  <a:srgbClr val="A8B2E0"/>
                </a:solidFill>
                <a:latin typeface="Segoe UI"/>
              </a:rPr>
              <a:t>  cada grupo de estudiantes obtiene su propia ciudad simulada, aislada de las demás.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450" b="0" i="0">
                <a:solidFill>
                  <a:srgbClr val="E0E4FF"/>
                </a:solidFill>
                <a:latin typeface="Segoe UI"/>
              </a:rPr>
              <a:t>Distritos dinámicos:</a:t>
            </a:r>
            <a:r>
              <a:rPr sz="1350" b="0" i="0">
                <a:solidFill>
                  <a:srgbClr val="A8B2E0"/>
                </a:solidFill>
                <a:latin typeface="Segoe UI"/>
              </a:rPr>
              <a:t>  la ciudad se reparte en vivo entre los administradores conectados a la sala (hasta 6).</a:t>
            </a:r>
          </a:p>
          <a:p>
            <a:pPr>
              <a:spcAft>
                <a:spcPts val="1000"/>
              </a:spcAft>
            </a:pPr>
            <a:r>
              <a:rPr sz="14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450" b="0" i="0">
                <a:solidFill>
                  <a:srgbClr val="E0E4FF"/>
                </a:solidFill>
                <a:latin typeface="Segoe UI"/>
              </a:rPr>
              <a:t>Catálogo de 6 herramientas + eventos:</a:t>
            </a:r>
            <a:r>
              <a:rPr sz="1350" b="0" i="0">
                <a:solidFill>
                  <a:srgbClr val="A8B2E0"/>
                </a:solidFill>
                <a:latin typeface="Segoe UI"/>
              </a:rPr>
              <a:t>  cada administrador defiende/optimiza su distrito y responde a eventos colaborativos.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1 · CONTEXTO Y REQUERIMIENTOS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Requerimientos funcionales implementados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777240" cy="566928"/>
          </a:xfrm>
          <a:prstGeom prst="roundRect">
            <a:avLst/>
          </a:prstGeom>
          <a:solidFill>
            <a:srgbClr val="3D5AF1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R1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0E4FF"/>
                </a:solidFill>
                <a:latin typeface="Segoe UI"/>
              </a:rPr>
              <a:t>Autenticación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508760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8B2E0"/>
                </a:solidFill>
                <a:latin typeface="Segoe UI"/>
              </a:rPr>
              <a:t>Registro/login con JWT (expiración 24h, HMAC-SHA).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80844"/>
            <a:ext cx="777240" cy="566928"/>
          </a:xfrm>
          <a:prstGeom prst="roundRect">
            <a:avLst/>
          </a:prstGeom>
          <a:solidFill>
            <a:srgbClr val="3D5AF1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R2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80844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0E4FF"/>
                </a:solidFill>
                <a:latin typeface="Segoe UI"/>
              </a:rPr>
              <a:t>Salas multiusuario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80844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8B2E0"/>
                </a:solidFill>
                <a:latin typeface="Segoe UI"/>
              </a:rPr>
              <a:t>Crear/unirse a una sala por código; token re-emitido con el roomCode.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52928"/>
            <a:ext cx="777240" cy="566928"/>
          </a:xfrm>
          <a:prstGeom prst="roundRect">
            <a:avLst/>
          </a:prstGeom>
          <a:solidFill>
            <a:srgbClr val="3D5AF1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R3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52928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0E4FF"/>
                </a:solidFill>
                <a:latin typeface="Segoe UI"/>
              </a:rPr>
              <a:t>Distritos dinámicos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52928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8B2E0"/>
                </a:solidFill>
                <a:latin typeface="Segoe UI"/>
              </a:rPr>
              <a:t>Partición de la ciudad en franjas verticales según usuarios activos (heartbeat TTL 10s).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5012"/>
            <a:ext cx="777240" cy="566928"/>
          </a:xfrm>
          <a:prstGeom prst="roundRect">
            <a:avLst/>
          </a:prstGeom>
          <a:solidFill>
            <a:srgbClr val="3D5AF1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R4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25012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0E4FF"/>
                </a:solidFill>
                <a:latin typeface="Segoe UI"/>
              </a:rPr>
              <a:t>Simulación en tiempo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525012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8B2E0"/>
                </a:solidFill>
                <a:latin typeface="Segoe UI"/>
              </a:rPr>
              <a:t>Miles de carros con ruteo A*, semáforos y carriles, transmitidos por WebSocket.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97096"/>
            <a:ext cx="777240" cy="566928"/>
          </a:xfrm>
          <a:prstGeom prst="roundRect">
            <a:avLst/>
          </a:prstGeom>
          <a:solidFill>
            <a:srgbClr val="3D5AF1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R5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97096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0E4FF"/>
                </a:solidFill>
                <a:latin typeface="Segoe UI"/>
              </a:rPr>
              <a:t>Catálogo de 6 herramientas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197096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8B2E0"/>
                </a:solidFill>
                <a:latin typeface="Segoe UI"/>
              </a:rPr>
              <a:t>Cerrar vía, Forzar semáforo, Ola verde, Reductor, Turbo, Lluvia de tráfico, Escudo de distrito.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69180"/>
            <a:ext cx="777240" cy="566928"/>
          </a:xfrm>
          <a:prstGeom prst="roundRect">
            <a:avLst/>
          </a:prstGeom>
          <a:solidFill>
            <a:srgbClr val="3D5AF1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R6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86918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0E4FF"/>
                </a:solidFill>
                <a:latin typeface="Segoe UI"/>
              </a:rPr>
              <a:t>Eventos colaborativos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869180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8B2E0"/>
                </a:solidFill>
                <a:latin typeface="Segoe UI"/>
              </a:rPr>
              <a:t>Objetivos aleatorios por distrito (proteger área, despejar corredor, aliviar cruce, evacuar).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541264"/>
            <a:ext cx="777240" cy="566928"/>
          </a:xfrm>
          <a:prstGeom prst="roundRect">
            <a:avLst/>
          </a:prstGeom>
          <a:solidFill>
            <a:srgbClr val="3D5AF1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R7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541264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0E4FF"/>
                </a:solidFill>
                <a:latin typeface="Segoe UI"/>
              </a:rPr>
              <a:t>Aislamiento multi-sala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541264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8B2E0"/>
                </a:solidFill>
                <a:latin typeface="Segoe UI"/>
              </a:rPr>
              <a:t>Cada sala corre su propia simulación (hilos, estado, semáforos) sin interferir con las demás.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1 · CONTEXTO Y REQUERIMIENTOS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Diagrama de casos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8B2E0"/>
                </a:solidFill>
                <a:latin typeface="Segoe UI"/>
              </a:rPr>
              <a:t>3 actores: Administrador de Distrito · Motor de Simulación (SBA) · sistema CitySim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554480"/>
            <a:ext cx="8229600" cy="4709160"/>
          </a:xfrm>
          <a:prstGeom prst="rect">
            <a:avLst/>
          </a:prstGeom>
          <a:noFill/>
          <a:ln w="19050">
            <a:solidFill>
              <a:srgbClr val="4A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60934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A8B2E0"/>
                </a:solidFill>
                <a:latin typeface="Segoe UI"/>
              </a:rPr>
              <a:t>CitySim</a:t>
            </a:r>
          </a:p>
        </p:txBody>
      </p:sp>
      <p:sp>
        <p:nvSpPr>
          <p:cNvPr id="9" name="Oval 8"/>
          <p:cNvSpPr/>
          <p:nvPr/>
        </p:nvSpPr>
        <p:spPr>
          <a:xfrm>
            <a:off x="877824" y="3246120"/>
            <a:ext cx="347472" cy="347472"/>
          </a:xfrm>
          <a:prstGeom prst="ellipse">
            <a:avLst/>
          </a:prstGeom>
          <a:solidFill>
            <a:srgbClr val="0D0F1E"/>
          </a:solidFill>
          <a:ln w="25400">
            <a:solidFill>
              <a:srgbClr val="7B9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51560" y="3593592"/>
            <a:ext cx="0" cy="457200"/>
          </a:xfrm>
          <a:prstGeom prst="line">
            <a:avLst/>
          </a:prstGeom>
          <a:ln w="25400">
            <a:solidFill>
              <a:srgbClr val="7B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3816" y="3721608"/>
            <a:ext cx="475488" cy="0"/>
          </a:xfrm>
          <a:prstGeom prst="line">
            <a:avLst/>
          </a:prstGeom>
          <a:ln w="25400">
            <a:solidFill>
              <a:srgbClr val="7B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68680" y="4050792"/>
            <a:ext cx="182880" cy="292608"/>
          </a:xfrm>
          <a:prstGeom prst="line">
            <a:avLst/>
          </a:prstGeom>
          <a:ln w="25400">
            <a:solidFill>
              <a:srgbClr val="7B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1560" y="4050792"/>
            <a:ext cx="182880" cy="292608"/>
          </a:xfrm>
          <a:prstGeom prst="line">
            <a:avLst/>
          </a:prstGeom>
          <a:ln w="25400">
            <a:solidFill>
              <a:srgbClr val="7B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" y="439826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7B9FFF"/>
                </a:solidFill>
                <a:latin typeface="Segoe UI"/>
              </a:rPr>
              <a:t>Administrador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7B9FFF"/>
                </a:solidFill>
                <a:latin typeface="Segoe UI"/>
              </a:rPr>
              <a:t>de Distrito</a:t>
            </a:r>
          </a:p>
        </p:txBody>
      </p:sp>
      <p:sp>
        <p:nvSpPr>
          <p:cNvPr id="15" name="Oval 14"/>
          <p:cNvSpPr/>
          <p:nvPr/>
        </p:nvSpPr>
        <p:spPr>
          <a:xfrm>
            <a:off x="10661904" y="2331720"/>
            <a:ext cx="347472" cy="347472"/>
          </a:xfrm>
          <a:prstGeom prst="ellipse">
            <a:avLst/>
          </a:prstGeom>
          <a:solidFill>
            <a:srgbClr val="0D0F1E"/>
          </a:solidFill>
          <a:ln w="25400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0835640" y="2679192"/>
            <a:ext cx="0" cy="457200"/>
          </a:xfrm>
          <a:prstGeom prst="line">
            <a:avLst/>
          </a:prstGeom>
          <a:ln w="25400">
            <a:solidFill>
              <a:srgbClr val="1A9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597896" y="2807208"/>
            <a:ext cx="475488" cy="0"/>
          </a:xfrm>
          <a:prstGeom prst="line">
            <a:avLst/>
          </a:prstGeom>
          <a:ln w="25400">
            <a:solidFill>
              <a:srgbClr val="1A9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652760" y="3136392"/>
            <a:ext cx="182880" cy="292608"/>
          </a:xfrm>
          <a:prstGeom prst="line">
            <a:avLst/>
          </a:prstGeom>
          <a:ln w="25400">
            <a:solidFill>
              <a:srgbClr val="1A9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835640" y="3136392"/>
            <a:ext cx="182880" cy="292608"/>
          </a:xfrm>
          <a:prstGeom prst="line">
            <a:avLst/>
          </a:prstGeom>
          <a:ln w="25400">
            <a:solidFill>
              <a:srgbClr val="1A9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921240" y="348386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936F"/>
                </a:solidFill>
                <a:latin typeface="Segoe UI"/>
              </a:rPr>
              <a:t>Motor de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936F"/>
                </a:solidFill>
                <a:latin typeface="Segoe UI"/>
              </a:rPr>
              <a:t>Simulación (SBA)</a:t>
            </a:r>
          </a:p>
        </p:txBody>
      </p:sp>
      <p:sp>
        <p:nvSpPr>
          <p:cNvPr id="21" name="Oval 20"/>
          <p:cNvSpPr/>
          <p:nvPr/>
        </p:nvSpPr>
        <p:spPr>
          <a:xfrm>
            <a:off x="2194560" y="1874520"/>
            <a:ext cx="1828800" cy="530352"/>
          </a:xfrm>
          <a:prstGeom prst="ellipse">
            <a:avLst/>
          </a:prstGeom>
          <a:solidFill>
            <a:srgbClr val="151830"/>
          </a:solidFill>
          <a:ln w="19050">
            <a:solidFill>
              <a:srgbClr val="7B9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0" i="0">
                <a:solidFill>
                  <a:srgbClr val="E0E4FF"/>
                </a:solidFill>
                <a:latin typeface="Segoe UI"/>
              </a:rPr>
              <a:t>Registrarse e
iniciar sesión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1097280" y="2139696.0"/>
            <a:ext cx="1097280" cy="1581912.0"/>
          </a:xfrm>
          <a:prstGeom prst="line">
            <a:avLst/>
          </a:prstGeom>
          <a:ln w="11430">
            <a:solidFill>
              <a:srgbClr val="3A4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160520" y="1874520"/>
            <a:ext cx="1828800" cy="530352"/>
          </a:xfrm>
          <a:prstGeom prst="ellipse">
            <a:avLst/>
          </a:prstGeom>
          <a:solidFill>
            <a:srgbClr val="151830"/>
          </a:solidFill>
          <a:ln w="19050">
            <a:solidFill>
              <a:srgbClr val="7B9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0" i="0">
                <a:solidFill>
                  <a:srgbClr val="E0E4FF"/>
                </a:solidFill>
                <a:latin typeface="Segoe UI"/>
              </a:rPr>
              <a:t>Crear o unirse
a una sala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097280" y="2139696.0"/>
            <a:ext cx="3063240" cy="1581912.0"/>
          </a:xfrm>
          <a:prstGeom prst="line">
            <a:avLst/>
          </a:prstGeom>
          <a:ln w="11430">
            <a:solidFill>
              <a:srgbClr val="3A4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126480" y="1874520"/>
            <a:ext cx="1828800" cy="530352"/>
          </a:xfrm>
          <a:prstGeom prst="ellipse">
            <a:avLst/>
          </a:prstGeom>
          <a:solidFill>
            <a:srgbClr val="151830"/>
          </a:solidFill>
          <a:ln w="19050">
            <a:solidFill>
              <a:srgbClr val="7B9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0" i="0">
                <a:solidFill>
                  <a:srgbClr val="E0E4FF"/>
                </a:solidFill>
                <a:latin typeface="Segoe UI"/>
              </a:rPr>
              <a:t>Administrar distrito
asignado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097280" y="2139696.0"/>
            <a:ext cx="5029200" cy="1581912.0"/>
          </a:xfrm>
          <a:prstGeom prst="line">
            <a:avLst/>
          </a:prstGeom>
          <a:ln w="11430">
            <a:solidFill>
              <a:srgbClr val="3A4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194560" y="2560320"/>
            <a:ext cx="1828800" cy="530352"/>
          </a:xfrm>
          <a:prstGeom prst="ellipse">
            <a:avLst/>
          </a:prstGeom>
          <a:solidFill>
            <a:srgbClr val="151830"/>
          </a:solidFill>
          <a:ln w="19050">
            <a:solidFill>
              <a:srgbClr val="7B9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0" i="0">
                <a:solidFill>
                  <a:srgbClr val="E0E4FF"/>
                </a:solidFill>
                <a:latin typeface="Segoe UI"/>
              </a:rPr>
              <a:t>Cerrar / reabrir
vía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1097280" y="2825496.0"/>
            <a:ext cx="1097280" cy="896112.0"/>
          </a:xfrm>
          <a:prstGeom prst="line">
            <a:avLst/>
          </a:prstGeom>
          <a:ln w="11430">
            <a:solidFill>
              <a:srgbClr val="3A4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160520" y="2560320"/>
            <a:ext cx="1828800" cy="530352"/>
          </a:xfrm>
          <a:prstGeom prst="ellipse">
            <a:avLst/>
          </a:prstGeom>
          <a:solidFill>
            <a:srgbClr val="151830"/>
          </a:solidFill>
          <a:ln w="19050">
            <a:solidFill>
              <a:srgbClr val="7B9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0" i="0">
                <a:solidFill>
                  <a:srgbClr val="E0E4FF"/>
                </a:solidFill>
                <a:latin typeface="Segoe UI"/>
              </a:rPr>
              <a:t>Forzar semáforo /
Ola verde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097280" y="2825496.0"/>
            <a:ext cx="3063240" cy="896112.0"/>
          </a:xfrm>
          <a:prstGeom prst="line">
            <a:avLst/>
          </a:prstGeom>
          <a:ln w="11430">
            <a:solidFill>
              <a:srgbClr val="3A4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126480" y="2560320"/>
            <a:ext cx="1828800" cy="530352"/>
          </a:xfrm>
          <a:prstGeom prst="ellipse">
            <a:avLst/>
          </a:prstGeom>
          <a:solidFill>
            <a:srgbClr val="151830"/>
          </a:solidFill>
          <a:ln w="19050">
            <a:solidFill>
              <a:srgbClr val="7B9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0" i="0">
                <a:solidFill>
                  <a:srgbClr val="E0E4FF"/>
                </a:solidFill>
                <a:latin typeface="Segoe UI"/>
              </a:rPr>
              <a:t>Reductor / Turbo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097280" y="2825496.0"/>
            <a:ext cx="5029200" cy="896112.0"/>
          </a:xfrm>
          <a:prstGeom prst="line">
            <a:avLst/>
          </a:prstGeom>
          <a:ln w="11430">
            <a:solidFill>
              <a:srgbClr val="3A4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194560" y="3246120"/>
            <a:ext cx="1828800" cy="530352"/>
          </a:xfrm>
          <a:prstGeom prst="ellipse">
            <a:avLst/>
          </a:prstGeom>
          <a:solidFill>
            <a:srgbClr val="151830"/>
          </a:solidFill>
          <a:ln w="19050">
            <a:solidFill>
              <a:srgbClr val="7B9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0" i="0">
                <a:solidFill>
                  <a:srgbClr val="E0E4FF"/>
                </a:solidFill>
                <a:latin typeface="Segoe UI"/>
              </a:rPr>
              <a:t>Lluvia de tráfico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097280" y="3511296.0"/>
            <a:ext cx="1097280" cy="210312.0"/>
          </a:xfrm>
          <a:prstGeom prst="line">
            <a:avLst/>
          </a:prstGeom>
          <a:ln w="11430">
            <a:solidFill>
              <a:srgbClr val="3A4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160520" y="3246120"/>
            <a:ext cx="1828800" cy="530352"/>
          </a:xfrm>
          <a:prstGeom prst="ellipse">
            <a:avLst/>
          </a:prstGeom>
          <a:solidFill>
            <a:srgbClr val="151830"/>
          </a:solidFill>
          <a:ln w="19050">
            <a:solidFill>
              <a:srgbClr val="7B9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0" i="0">
                <a:solidFill>
                  <a:srgbClr val="E0E4FF"/>
                </a:solidFill>
                <a:latin typeface="Segoe UI"/>
              </a:rPr>
              <a:t>Escudo de distrito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1097280" y="3511296.0"/>
            <a:ext cx="3063240" cy="210312.0"/>
          </a:xfrm>
          <a:prstGeom prst="line">
            <a:avLst/>
          </a:prstGeom>
          <a:ln w="11430">
            <a:solidFill>
              <a:srgbClr val="3A4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126480" y="3246120"/>
            <a:ext cx="1828800" cy="530352"/>
          </a:xfrm>
          <a:prstGeom prst="ellipse">
            <a:avLst/>
          </a:prstGeom>
          <a:solidFill>
            <a:srgbClr val="151830"/>
          </a:solidFill>
          <a:ln w="19050">
            <a:solidFill>
              <a:srgbClr val="7B9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0" i="0">
                <a:solidFill>
                  <a:srgbClr val="E0E4FF"/>
                </a:solidFill>
                <a:latin typeface="Segoe UI"/>
              </a:rPr>
              <a:t>Responder evento
colaborativo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1097280" y="3511296.0"/>
            <a:ext cx="5029200" cy="210312.0"/>
          </a:xfrm>
          <a:prstGeom prst="line">
            <a:avLst/>
          </a:prstGeom>
          <a:ln w="11430">
            <a:solidFill>
              <a:srgbClr val="3A4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160520" y="3931920"/>
            <a:ext cx="1828800" cy="530352"/>
          </a:xfrm>
          <a:prstGeom prst="ellipse">
            <a:avLst/>
          </a:prstGeom>
          <a:solidFill>
            <a:srgbClr val="151830"/>
          </a:solidFill>
          <a:ln w="19050">
            <a:solidFill>
              <a:srgbClr val="7B9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0" i="0">
                <a:solidFill>
                  <a:srgbClr val="E0E4FF"/>
                </a:solidFill>
                <a:latin typeface="Segoe UI"/>
              </a:rPr>
              <a:t>Ver vehículos en
tiempo real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97280" y="3721608"/>
            <a:ext cx="3063240" cy="475488.0"/>
          </a:xfrm>
          <a:prstGeom prst="line">
            <a:avLst/>
          </a:prstGeom>
          <a:ln w="11430">
            <a:solidFill>
              <a:srgbClr val="3A4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8138160" y="1874520"/>
            <a:ext cx="1828800" cy="530352"/>
          </a:xfrm>
          <a:prstGeom prst="ellipse">
            <a:avLst/>
          </a:prstGeom>
          <a:solidFill>
            <a:srgbClr val="151830"/>
          </a:solidFill>
          <a:ln w="19050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0" i="0">
                <a:solidFill>
                  <a:srgbClr val="E0E4FF"/>
                </a:solidFill>
                <a:latin typeface="Segoe UI"/>
              </a:rPr>
              <a:t>Calcular ruta (A*)</a:t>
            </a:r>
          </a:p>
        </p:txBody>
      </p:sp>
      <p:cxnSp>
        <p:nvCxnSpPr>
          <p:cNvPr id="42" name="Connector 41"/>
          <p:cNvCxnSpPr/>
          <p:nvPr/>
        </p:nvCxnSpPr>
        <p:spPr>
          <a:xfrm flipH="1" flipV="1">
            <a:off x="9966960" y="2139696.0"/>
            <a:ext cx="822960" cy="667512.0"/>
          </a:xfrm>
          <a:prstGeom prst="line">
            <a:avLst/>
          </a:prstGeom>
          <a:ln w="11430">
            <a:solidFill>
              <a:srgbClr val="3A4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138160" y="2560320"/>
            <a:ext cx="1828800" cy="530352"/>
          </a:xfrm>
          <a:prstGeom prst="ellipse">
            <a:avLst/>
          </a:prstGeom>
          <a:solidFill>
            <a:srgbClr val="151830"/>
          </a:solidFill>
          <a:ln w="19050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0" i="0">
                <a:solidFill>
                  <a:srgbClr val="E0E4FF"/>
                </a:solidFill>
                <a:latin typeface="Segoe UI"/>
              </a:rPr>
              <a:t>Mover vehículos
por tick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9966960" y="2807208"/>
            <a:ext cx="822960" cy="18288.0"/>
          </a:xfrm>
          <a:prstGeom prst="line">
            <a:avLst/>
          </a:prstGeom>
          <a:ln w="11430">
            <a:solidFill>
              <a:srgbClr val="3A4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8138160" y="3246120"/>
            <a:ext cx="1828800" cy="530352"/>
          </a:xfrm>
          <a:prstGeom prst="ellipse">
            <a:avLst/>
          </a:prstGeom>
          <a:solidFill>
            <a:srgbClr val="151830"/>
          </a:solidFill>
          <a:ln w="19050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0" i="0">
                <a:solidFill>
                  <a:srgbClr val="E0E4FF"/>
                </a:solidFill>
                <a:latin typeface="Segoe UI"/>
              </a:rPr>
              <a:t>Gestionar
semáforos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9966960" y="2807208"/>
            <a:ext cx="822960" cy="704088.0"/>
          </a:xfrm>
          <a:prstGeom prst="line">
            <a:avLst/>
          </a:prstGeom>
          <a:ln w="11430">
            <a:solidFill>
              <a:srgbClr val="3A4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955280" y="2139696.0"/>
            <a:ext cx="182880" cy="0.0"/>
          </a:xfrm>
          <a:prstGeom prst="line">
            <a:avLst/>
          </a:prstGeom>
          <a:ln w="13970">
            <a:solidFill>
              <a:srgbClr val="1A93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973568" y="169164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1A936F"/>
                </a:solidFill>
                <a:latin typeface="Segoe UI"/>
              </a:rPr>
              <a:t>«include»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1 · CONTEXTO Y REQUERIMIENTOS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Historias de usuario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206240" cy="384048"/>
          </a:xfrm>
          <a:prstGeom prst="rect">
            <a:avLst/>
          </a:prstGeom>
          <a:solidFill>
            <a:srgbClr val="3D5AF1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Épica: Salas multiusuario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933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8BDF8"/>
                </a:solidFill>
                <a:latin typeface="Segoe UI"/>
              </a:rPr>
              <a:t>HU1 — Crear o unirse a una sala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11091672" cy="731520"/>
          </a:xfrm>
          <a:prstGeom prst="round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0" i="0">
                <a:solidFill>
                  <a:srgbClr val="E0E4FF"/>
                </a:solidFill>
                <a:latin typeface="Segoe UI"/>
              </a:rPr>
              <a:t>Como usuario autenticado, quiero crear una sala o unirme a una existente con un código, para jugar con mi grupo en una ciudad simulada aislada de las demás.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Gherkin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Given: tengo sesión iniciada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When: creo una sala o ingreso un código válido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Then: recibo un token con mi roomCode y entro a mi ciudad simulada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Definition of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Formato del token con roomCode definido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Límite de 6 administradores por sala acordado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Definition of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RoomManager arranca la RoomSimulation al crear la sala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Verificado: unión a sala + heartbeat de presencia probados con curl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1 · CONTEXTO Y REQUERIMIENTOS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Historias de usuario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206240" cy="384048"/>
          </a:xfrm>
          <a:prstGeom prst="rect">
            <a:avLst/>
          </a:prstGeom>
          <a:solidFill>
            <a:srgbClr val="1A936F"/>
          </a:solidFill>
          <a:ln w="15875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Épica: Simulación de tráfico en tiempo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933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8BDF8"/>
                </a:solidFill>
                <a:latin typeface="Segoe UI"/>
              </a:rPr>
              <a:t>HU2 — Ver vehículos en tiempo real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11091672" cy="731520"/>
          </a:xfrm>
          <a:prstGeom prst="round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0" i="0">
                <a:solidFill>
                  <a:srgbClr val="E0E4FF"/>
                </a:solidFill>
                <a:latin typeface="Segoe UI"/>
              </a:rPr>
              <a:t>Como administrador de distrito, quiero ver los vehículos de mi ciudad moviéndose en tiempo real, para evaluar el estado del tráfico sin recargar la página.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Gherkin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Given: conectado a mi sala por WebSocket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When: un vehículo cambia de posición en cualquier zona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Then: lo veo reflejado en el canvas sin pedir actualización manual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Definition of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Formato de SimulationFrame (solo deltas) definido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Topic STOMP por sala: /topic/rooms/{code}/cars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Definition of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Web Worker redibuja con OffscreenCanvas sin bloquear la UI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Verificado: frames fluyendo en 2 salas simultáneas sin cruzarse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1 · CONTEXTO Y REQUERIMIENTOS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Historias de usuario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206240" cy="384048"/>
          </a:xfrm>
          <a:prstGeom prst="rect">
            <a:avLst/>
          </a:prstGeom>
          <a:solidFill>
            <a:srgbClr val="EAB308"/>
          </a:solidFill>
          <a:ln w="1587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Épica: Catálogo de herramientas administrativas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933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8BDF8"/>
                </a:solidFill>
                <a:latin typeface="Segoe UI"/>
              </a:rPr>
              <a:t>HU3 — Forzar un semáforo de mi distrito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11091672" cy="731520"/>
          </a:xfrm>
          <a:prstGeom prst="round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0" i="0">
                <a:solidFill>
                  <a:srgbClr val="E0E4FF"/>
                </a:solidFill>
                <a:latin typeface="Segoe UI"/>
              </a:rPr>
              <a:t>Como administrador de distrito, quiero forzar un semáforo de mi distrito en verde por 30 segundos, para aliviar congestión puntual.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Gherkin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Given: selecciono un cruce mayor dentro de mi distrito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When: aplico la herramienta Forzar Semáforo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Then: ese eje queda en verde 30s y vuelve solo a su ciclo normal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Definition of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Reglas de cruce mayor (avenida x avenida) definidas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Validación de distrito reutilizable diseñada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Definition of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Rechazo verificado si el cruce no es mayor o no es de mi distrito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Expiración por tick verificada con curl (sin drift de reloj)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1 · CONTEXTO Y REQUERIMIENTOS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Historias de usuario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206240" cy="384048"/>
          </a:xfrm>
          <a:prstGeom prst="rect">
            <a:avLst/>
          </a:prstGeom>
          <a:solidFill>
            <a:srgbClr val="EF4444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Épica: Eventos colaborativos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933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8BDF8"/>
                </a:solidFill>
                <a:latin typeface="Segoe UI"/>
              </a:rPr>
              <a:t>HU4 — Responder a un evento colaborativo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11091672" cy="731520"/>
          </a:xfrm>
          <a:prstGeom prst="round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0" i="0">
                <a:solidFill>
                  <a:srgbClr val="E0E4FF"/>
                </a:solidFill>
                <a:latin typeface="Segoe UI"/>
              </a:rPr>
              <a:t>Como administrador de distrito, quiero responder al objetivo que me asigna un evento aleatorio, para que mi ciudad supere el evento junto con los demás administradores.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Gherkin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Given: hay un evento activo con un objetivo para mi distrito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When: cumplo la acción pedida (p.ej. cerrar la vía objetivo)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Then: mi progreso se registra y el evento avanza hacia su resolución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Definition of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Tipos de objetivo (vía, área, corredor, cruce) definidos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Umbral de éxito por tipo de objetivo acordado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Definition of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EventObjectiveTracker evalúa el progreso cada tick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Verificado en sesión: AREA_SHIELD y VIP_CONVOY resueltos en pruebas reales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1 · CONTEXTO Y REQUERIMIENTOS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Historias de usuario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206240" cy="384048"/>
          </a:xfrm>
          <a:prstGeom prst="rect">
            <a:avLst/>
          </a:prstGeom>
          <a:solidFill>
            <a:srgbClr val="F28C28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Épica: Gestión de usuarios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933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8BDF8"/>
                </a:solidFill>
                <a:latin typeface="Segoe UI"/>
              </a:rPr>
              <a:t>HU5 — Registro e inicio de sesión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11091672" cy="731520"/>
          </a:xfrm>
          <a:prstGeom prst="round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0" i="0">
                <a:solidFill>
                  <a:srgbClr val="E0E4FF"/>
                </a:solidFill>
                <a:latin typeface="Segoe UI"/>
              </a:rPr>
              <a:t>Como nuevo usuario, quiero registrarme e iniciar sesión, para poder crear o unirme a una sala.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Gherkin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Given: no tengo cuenta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When: completo el formulario de registro con datos válidos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Then: se crea mi cuenta y recibo un JWT válido por 24h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Definition of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Reglas de validación de campos definidas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Definition of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Contraseñas nunca viajan ni se guardan en texto plano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Pruebas de JwtService pasan (JwtServiceTest)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1 · CONTEXTO Y REQUERIMIENTOS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Historias de usuario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206240" cy="384048"/>
          </a:xfrm>
          <a:prstGeom prst="rect">
            <a:avLst/>
          </a:prstGeom>
          <a:solidFill>
            <a:srgbClr val="38BDF8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Épica: Aislamiento y confiabilidad multi-sala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933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8BDF8"/>
                </a:solidFill>
                <a:latin typeface="Segoe UI"/>
              </a:rPr>
              <a:t>HU6 — Aislamiento entre salas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11091672" cy="731520"/>
          </a:xfrm>
          <a:prstGeom prst="round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0" i="0">
                <a:solidFill>
                  <a:srgbClr val="E0E4FF"/>
                </a:solidFill>
                <a:latin typeface="Segoe UI"/>
              </a:rPr>
              <a:t>Como administrador de una sala, quiero que las acciones de otra sala no afecten la mía, para que cada grupo juegue su propia partida sin interferencias.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Gherkin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Given: dos salas corriendo al mismo tiempo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When: un administrador de la Sala A cierra una vía o lanza un evento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Then: la Sala B no ve ningún cambio en su tráfico ni en sus semáforos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Definition of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Prefijo de namespace por sala en Hazelcast diseñado ("room:&lt;code&gt;:")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3337560"/>
            <a:ext cx="3611880" cy="365760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Definition of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3776472"/>
            <a:ext cx="34290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Verificado con logs: 2 salas con ZoneRegistry y ownership de zonas totalmente separados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150" b="1" i="0">
                <a:solidFill>
                  <a:srgbClr val="E0E4FF"/>
                </a:solidFill>
                <a:latin typeface="Segoe UI"/>
              </a:rPr>
              <a:t>Vía cerrada en una sala confirmada ausente en el listado de la otra (curl)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1 · CONTEXTO Y REQUERIMIENTOS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Caso de uso en tiempo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8B2E0"/>
                </a:solidFill>
                <a:latin typeface="Segoe UI"/>
              </a:rPr>
              <a:t>Simulación continua de tráfico transmitida en vivo a todos los clientes de una sala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2036003" cy="1371600"/>
          </a:xfrm>
          <a:prstGeom prst="roundRect">
            <a:avLst/>
          </a:prstGeom>
          <a:solidFill>
            <a:srgbClr val="151830"/>
          </a:solidFill>
          <a:ln w="25400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E0E4FF"/>
                </a:solidFill>
                <a:latin typeface="Segoe UI"/>
              </a:rPr>
              <a:t>SimulationClock</a:t>
            </a:r>
          </a:p>
          <a:p>
            <a:pPr algn="ctr"/>
            <a:r>
              <a:rPr sz="1050" b="0" i="0">
                <a:solidFill>
                  <a:srgbClr val="E0E4FF"/>
                </a:solidFill>
                <a:latin typeface="Segoe UI"/>
              </a:rPr>
              <a:t/>
            </a:r>
          </a:p>
          <a:p>
            <a:pPr algn="ctr"/>
            <a:r>
              <a:rPr sz="1050" b="0" i="0">
                <a:solidFill>
                  <a:srgbClr val="E0E4FF"/>
                </a:solidFill>
                <a:latin typeface="Segoe UI"/>
              </a:rPr>
              <a:t>arranca un tick cada 50ms</a:t>
            </a:r>
          </a:p>
          <a:p>
            <a:pPr algn="ctr"/>
            <a:r>
              <a:rPr sz="1050" b="0" i="0">
                <a:solidFill>
                  <a:srgbClr val="E0E4FF"/>
                </a:solidFill>
                <a:latin typeface="Segoe UI"/>
              </a:rPr>
              <a:t>(20 ticks/seg, determinista)</a:t>
            </a:r>
          </a:p>
        </p:txBody>
      </p:sp>
      <p:sp>
        <p:nvSpPr>
          <p:cNvPr id="8" name="Oval 7"/>
          <p:cNvSpPr/>
          <p:nvPr/>
        </p:nvSpPr>
        <p:spPr>
          <a:xfrm>
            <a:off x="1420337" y="2084832"/>
            <a:ext cx="292608" cy="292608"/>
          </a:xfrm>
          <a:prstGeom prst="ellipse">
            <a:avLst/>
          </a:prstGeom>
          <a:solidFill>
            <a:srgbClr val="3D5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0D0F1E"/>
                </a:solidFill>
                <a:latin typeface="Segoe UI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84643.0" y="3154680.0"/>
            <a:ext cx="228600.0" cy="0.0"/>
          </a:xfrm>
          <a:prstGeom prst="line">
            <a:avLst/>
          </a:prstGeom>
          <a:ln w="22225">
            <a:solidFill>
              <a:srgbClr val="7B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2762951" y="3104388"/>
            <a:ext cx="100584" cy="100584"/>
          </a:xfrm>
          <a:prstGeom prst="triangle">
            <a:avLst/>
          </a:prstGeom>
          <a:solidFill>
            <a:srgbClr val="7B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13243" y="2468880"/>
            <a:ext cx="2036003" cy="1371600"/>
          </a:xfrm>
          <a:prstGeom prst="roundRect">
            <a:avLst/>
          </a:prstGeom>
          <a:solidFill>
            <a:srgbClr val="151830"/>
          </a:solidFill>
          <a:ln w="25400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E0E4FF"/>
                </a:solidFill>
                <a:latin typeface="Segoe UI"/>
              </a:rPr>
              <a:t>ZoneProcessingUnit</a:t>
            </a:r>
          </a:p>
          <a:p>
            <a:pPr algn="ctr"/>
            <a:r>
              <a:rPr sz="1050" b="0" i="0">
                <a:solidFill>
                  <a:srgbClr val="E0E4FF"/>
                </a:solidFill>
                <a:latin typeface="Segoe UI"/>
              </a:rPr>
              <a:t/>
            </a:r>
          </a:p>
          <a:p>
            <a:pPr algn="ctr"/>
            <a:r>
              <a:rPr sz="1050" b="0" i="0">
                <a:solidFill>
                  <a:srgbClr val="E0E4FF"/>
                </a:solidFill>
                <a:latin typeface="Segoe UI"/>
              </a:rPr>
              <a:t>por cada zona, avanza cada</a:t>
            </a:r>
          </a:p>
          <a:p>
            <a:pPr algn="ctr"/>
            <a:r>
              <a:rPr sz="1050" b="0" i="0">
                <a:solidFill>
                  <a:srgbClr val="E0E4FF"/>
                </a:solidFill>
                <a:latin typeface="Segoe UI"/>
              </a:rPr>
              <a:t>carro con CarAgent (A*, semáforos,</a:t>
            </a:r>
          </a:p>
          <a:p>
            <a:pPr algn="ctr"/>
            <a:r>
              <a:rPr sz="1050" b="0" i="0">
                <a:solidFill>
                  <a:srgbClr val="E0E4FF"/>
                </a:solidFill>
                <a:latin typeface="Segoe UI"/>
              </a:rPr>
              <a:t>speed-overrides, vías cerradas)</a:t>
            </a:r>
          </a:p>
        </p:txBody>
      </p:sp>
      <p:sp>
        <p:nvSpPr>
          <p:cNvPr id="12" name="Oval 11"/>
          <p:cNvSpPr/>
          <p:nvPr/>
        </p:nvSpPr>
        <p:spPr>
          <a:xfrm>
            <a:off x="3684940" y="2084832"/>
            <a:ext cx="292608" cy="292608"/>
          </a:xfrm>
          <a:prstGeom prst="ellipse">
            <a:avLst/>
          </a:prstGeom>
          <a:solidFill>
            <a:srgbClr val="1A9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0D0F1E"/>
                </a:solidFill>
                <a:latin typeface="Segoe UI"/>
              </a:rPr>
              <a:t>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9246.0" y="3154680.0"/>
            <a:ext cx="228600.0" cy="0.0"/>
          </a:xfrm>
          <a:prstGeom prst="line">
            <a:avLst/>
          </a:prstGeom>
          <a:ln w="22225">
            <a:solidFill>
              <a:srgbClr val="7B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5027554" y="3104388"/>
            <a:ext cx="100584" cy="100584"/>
          </a:xfrm>
          <a:prstGeom prst="triangle">
            <a:avLst/>
          </a:prstGeom>
          <a:solidFill>
            <a:srgbClr val="7B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77846" y="2468880"/>
            <a:ext cx="2036003" cy="1371600"/>
          </a:xfrm>
          <a:prstGeom prst="roundRect">
            <a:avLst/>
          </a:prstGeom>
          <a:solidFill>
            <a:srgbClr val="151830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E0E4FF"/>
                </a:solidFill>
                <a:latin typeface="Segoe UI"/>
              </a:rPr>
              <a:t>Hazelcast (Space)</a:t>
            </a:r>
          </a:p>
          <a:p>
            <a:pPr algn="ctr"/>
            <a:r>
              <a:rPr sz="1050" b="0" i="0">
                <a:solidFill>
                  <a:srgbClr val="E0E4FF"/>
                </a:solidFill>
                <a:latin typeface="Segoe UI"/>
              </a:rPr>
              <a:t/>
            </a:r>
          </a:p>
          <a:p>
            <a:pPr algn="ctr"/>
            <a:r>
              <a:rPr sz="1050" b="0" i="0">
                <a:solidFill>
                  <a:srgbClr val="E0E4FF"/>
                </a:solidFill>
                <a:latin typeface="Segoe UI"/>
              </a:rPr>
              <a:t>el nuevo estado se publica</a:t>
            </a:r>
          </a:p>
          <a:p>
            <a:pPr algn="ctr"/>
            <a:r>
              <a:rPr sz="1050" b="0" i="0">
                <a:solidFill>
                  <a:srgbClr val="E0E4FF"/>
                </a:solidFill>
                <a:latin typeface="Segoe UI"/>
              </a:rPr>
              <a:t>en el ITopic de la sala</a:t>
            </a:r>
          </a:p>
        </p:txBody>
      </p:sp>
      <p:sp>
        <p:nvSpPr>
          <p:cNvPr id="16" name="Oval 15"/>
          <p:cNvSpPr/>
          <p:nvPr/>
        </p:nvSpPr>
        <p:spPr>
          <a:xfrm>
            <a:off x="5949543" y="2084832"/>
            <a:ext cx="292608" cy="29260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0D0F1E"/>
                </a:solidFill>
                <a:latin typeface="Segoe UI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13849.0" y="3154680.0"/>
            <a:ext cx="228600.0" cy="0.0"/>
          </a:xfrm>
          <a:prstGeom prst="line">
            <a:avLst/>
          </a:prstGeom>
          <a:ln w="22225">
            <a:solidFill>
              <a:srgbClr val="7B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7292157" y="3104388"/>
            <a:ext cx="100584" cy="100584"/>
          </a:xfrm>
          <a:prstGeom prst="triangle">
            <a:avLst/>
          </a:prstGeom>
          <a:solidFill>
            <a:srgbClr val="7B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42449" y="2468880"/>
            <a:ext cx="2036003" cy="1371600"/>
          </a:xfrm>
          <a:prstGeom prst="roundRect">
            <a:avLst/>
          </a:prstGeom>
          <a:solidFill>
            <a:srgbClr val="151830"/>
          </a:solidFill>
          <a:ln w="2540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E0E4FF"/>
                </a:solidFill>
                <a:latin typeface="Segoe UI"/>
              </a:rPr>
              <a:t>STOMP Broker</a:t>
            </a:r>
          </a:p>
          <a:p>
            <a:pPr algn="ctr"/>
            <a:r>
              <a:rPr sz="1050" b="0" i="0">
                <a:solidFill>
                  <a:srgbClr val="E0E4FF"/>
                </a:solidFill>
                <a:latin typeface="Segoe UI"/>
              </a:rPr>
              <a:t/>
            </a:r>
          </a:p>
          <a:p>
            <a:pPr algn="ctr"/>
            <a:r>
              <a:rPr sz="1050" b="0" i="0">
                <a:solidFill>
                  <a:srgbClr val="E0E4FF"/>
                </a:solidFill>
                <a:latin typeface="Segoe UI"/>
              </a:rPr>
              <a:t>reenvía el frame a</a:t>
            </a:r>
          </a:p>
          <a:p>
            <a:pPr algn="ctr"/>
            <a:r>
              <a:rPr sz="1050" b="0" i="0">
                <a:solidFill>
                  <a:srgbClr val="E0E4FF"/>
                </a:solidFill>
                <a:latin typeface="Segoe UI"/>
              </a:rPr>
              <a:t>/topic/rooms/{code}/cars</a:t>
            </a:r>
          </a:p>
        </p:txBody>
      </p:sp>
      <p:sp>
        <p:nvSpPr>
          <p:cNvPr id="20" name="Oval 19"/>
          <p:cNvSpPr/>
          <p:nvPr/>
        </p:nvSpPr>
        <p:spPr>
          <a:xfrm>
            <a:off x="8214146" y="2084832"/>
            <a:ext cx="292608" cy="292608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0D0F1E"/>
                </a:solidFill>
                <a:latin typeface="Segoe UI"/>
              </a:rPr>
              <a:t>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78452.0" y="3154680.0"/>
            <a:ext cx="228600.0" cy="0.0"/>
          </a:xfrm>
          <a:prstGeom prst="line">
            <a:avLst/>
          </a:prstGeom>
          <a:ln w="22225">
            <a:solidFill>
              <a:srgbClr val="7B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9556760" y="3104388"/>
            <a:ext cx="100584" cy="100584"/>
          </a:xfrm>
          <a:prstGeom prst="triangle">
            <a:avLst/>
          </a:prstGeom>
          <a:solidFill>
            <a:srgbClr val="7B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7052" y="2468880"/>
            <a:ext cx="2036003" cy="1371600"/>
          </a:xfrm>
          <a:prstGeom prst="roundRect">
            <a:avLst/>
          </a:prstGeom>
          <a:solidFill>
            <a:srgbClr val="151830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E0E4FF"/>
                </a:solidFill>
                <a:latin typeface="Segoe UI"/>
              </a:rPr>
              <a:t>Web Worker (Angular)</a:t>
            </a:r>
          </a:p>
          <a:p>
            <a:pPr algn="ctr"/>
            <a:r>
              <a:rPr sz="1050" b="0" i="0">
                <a:solidFill>
                  <a:srgbClr val="E0E4FF"/>
                </a:solidFill>
                <a:latin typeface="Segoe UI"/>
              </a:rPr>
              <a:t/>
            </a:r>
          </a:p>
          <a:p>
            <a:pPr algn="ctr"/>
            <a:r>
              <a:rPr sz="1050" b="0" i="0">
                <a:solidFill>
                  <a:srgbClr val="E0E4FF"/>
                </a:solidFill>
                <a:latin typeface="Segoe UI"/>
              </a:rPr>
              <a:t>recibe el frame y redibuja</a:t>
            </a:r>
          </a:p>
          <a:p>
            <a:pPr algn="ctr"/>
            <a:r>
              <a:rPr sz="1050" b="0" i="0">
                <a:solidFill>
                  <a:srgbClr val="E0E4FF"/>
                </a:solidFill>
                <a:latin typeface="Segoe UI"/>
              </a:rPr>
              <a:t>el canvas a 60fps sin bloquear la UI</a:t>
            </a:r>
          </a:p>
        </p:txBody>
      </p:sp>
      <p:sp>
        <p:nvSpPr>
          <p:cNvPr id="24" name="Oval 23"/>
          <p:cNvSpPr/>
          <p:nvPr/>
        </p:nvSpPr>
        <p:spPr>
          <a:xfrm>
            <a:off x="10478749" y="2084832"/>
            <a:ext cx="292608" cy="29260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0D0F1E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8B2E0"/>
                </a:solidFill>
                <a:latin typeface="Segoe UI"/>
              </a:rPr>
              <a:t>El ciclo se repite sin parar mientras la sala esté activa; cada sala tiene su propio SimulationClock e hilos, en paralelo real.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0060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8BDF8"/>
                </a:solidFill>
                <a:latin typeface="Segoe UI"/>
              </a:rPr>
              <a:t>Evidencia funcional (verificada hoy en Docker):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66360"/>
            <a:ext cx="1106424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E0E4FF"/>
                </a:solidFill>
                <a:latin typeface="Segoe UI"/>
              </a:rPr>
              <a:t>2 salas simultáneas</a:t>
            </a:r>
            <a:r>
              <a:rPr sz="1200" b="0" i="0">
                <a:solidFill>
                  <a:srgbClr val="A8B2E0"/>
                </a:solidFill>
                <a:latin typeface="Segoe UI"/>
              </a:rPr>
              <a:t>  con hilos "room-&lt;code&gt;" independientes y ZoneRegistry con ownership de zonas separado (logs).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E0E4FF"/>
                </a:solidFill>
                <a:latin typeface="Segoe UI"/>
              </a:rPr>
              <a:t>Efectos con expiración por tick</a:t>
            </a:r>
            <a:r>
              <a:rPr sz="1200" b="0" i="0">
                <a:solidFill>
                  <a:srgbClr val="A8B2E0"/>
                </a:solidFill>
                <a:latin typeface="Segoe UI"/>
              </a:rPr>
              <a:t>  (Reductor/Turbo/Forzar semáforo) verificados con curl: expiran solos, sin drift de reloj.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2 · ESCENARIOS DE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Escenario de calidad — Rendimiento (capacidad bajo carga creciente)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468880" cy="420624"/>
          </a:xfrm>
          <a:prstGeom prst="rect">
            <a:avLst/>
          </a:prstGeom>
          <a:solidFill>
            <a:srgbClr val="38BDF8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Parte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554480"/>
            <a:ext cx="9171432" cy="420624"/>
          </a:xfrm>
          <a:prstGeom prst="rect">
            <a:avLst/>
          </a:prstGeom>
          <a:solidFill>
            <a:srgbClr val="38BDF8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Descripción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75104"/>
            <a:ext cx="2468880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Fuente del estímulo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975104"/>
            <a:ext cx="9171432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Administrador de distrito, dentro de una sala activa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2468880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Estímulo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670048"/>
            <a:ext cx="9171432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El número de vehículos simulados en la sala sube de 200 a varios miles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64992"/>
            <a:ext cx="2468880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Ambiente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3364992"/>
            <a:ext cx="9171432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Operación normal, sala con varios distritos activos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59936"/>
            <a:ext cx="2468880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Artefacto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4059936"/>
            <a:ext cx="9171432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ZoneProcessingUnit + HazelcastSpaceDataGrid (por sala)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54880"/>
            <a:ext cx="2468880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Respuesta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4754880"/>
            <a:ext cx="9171432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Cada zona se procesa de forma independiente por tick, sin locks compartidos entre zonas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49824"/>
            <a:ext cx="2468880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38BDF8"/>
                </a:solidFill>
                <a:latin typeface="Segoe UI"/>
              </a:rPr>
              <a:t>Medida de la respuesta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5449824"/>
            <a:ext cx="9171432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El tick fijo de 50ms se mantiene estable; verificado con 200+ carros por sala sin degradar el ciclo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2 · ESCENARIOS DE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Escenario de calidad — Disponibilidad / Escalabilidad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468880" cy="420624"/>
          </a:xfrm>
          <a:prstGeom prst="rect">
            <a:avLst/>
          </a:prstGeom>
          <a:solidFill>
            <a:srgbClr val="22C55E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Parte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554480"/>
            <a:ext cx="9171432" cy="420624"/>
          </a:xfrm>
          <a:prstGeom prst="rect">
            <a:avLst/>
          </a:prstGeom>
          <a:solidFill>
            <a:srgbClr val="22C55E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Descripción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75104"/>
            <a:ext cx="2468880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22C55E"/>
                </a:solidFill>
                <a:latin typeface="Segoe UI"/>
              </a:rPr>
              <a:t>Fuente del estímulo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975104"/>
            <a:ext cx="9171432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Operador que despliega el sistema para más salas concurrentes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2468880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22C55E"/>
                </a:solidFill>
                <a:latin typeface="Segoe UI"/>
              </a:rPr>
              <a:t>Estímulo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670048"/>
            <a:ext cx="9171432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Sube el número de salas y usuarios conectados simultáneamente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64992"/>
            <a:ext cx="2468880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22C55E"/>
                </a:solidFill>
                <a:latin typeface="Segoe UI"/>
              </a:rPr>
              <a:t>Ambiente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3364992"/>
            <a:ext cx="9171432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Operación normal, múltiples salas activas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59936"/>
            <a:ext cx="2468880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22C55E"/>
                </a:solidFill>
                <a:latin typeface="Segoe UI"/>
              </a:rPr>
              <a:t>Artefacto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4059936"/>
            <a:ext cx="9171432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RoomManager + N × RoomSimulation + Hazelcast (namespace por sala)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54880"/>
            <a:ext cx="2468880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22C55E"/>
                </a:solidFill>
                <a:latin typeface="Segoe UI"/>
              </a:rPr>
              <a:t>Respuesta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4754880"/>
            <a:ext cx="9171432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Cada sala corre su simulación aislada; el backend puede replicarse horizontalmente porque el estado vive en Hazelcast, no en memoria local del proceso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49824"/>
            <a:ext cx="2468880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22C55E"/>
                </a:solidFill>
                <a:latin typeface="Segoe UI"/>
              </a:rPr>
              <a:t>Medida de la respuesta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5449824"/>
            <a:ext cx="9171432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Verificado con 2 salas simultáneas (logs con hilos y ownership de zonas independientes); docker-compose.scale.yml soporta 6 réplicas backend + 4 nodos Hazelcast sin cambiar código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7278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A8B2E0"/>
                </a:solidFill>
                <a:latin typeface="Segoe UI"/>
              </a:rPr>
              <a:t>El Data-Replication Engine (Hazelcast ITopic/IMap) mantiene el mismo estado visible para cualquier réplica del backend.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2 · ESCENARIOS DE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Escenario de calidad — Seguridad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468880" cy="420624"/>
          </a:xfrm>
          <a:prstGeom prst="rect">
            <a:avLst/>
          </a:prstGeom>
          <a:solidFill>
            <a:srgbClr val="EF4444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Parte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554480"/>
            <a:ext cx="9171432" cy="420624"/>
          </a:xfrm>
          <a:prstGeom prst="rect">
            <a:avLst/>
          </a:prstGeom>
          <a:solidFill>
            <a:srgbClr val="EF4444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Descripción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75104"/>
            <a:ext cx="2468880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EF4444"/>
                </a:solidFill>
                <a:latin typeface="Segoe UI"/>
              </a:rPr>
              <a:t>Fuente del estímulo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975104"/>
            <a:ext cx="9171432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Un usuario autenticado intenta operar sobre otra sala o un distrito ajeno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2468880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EF4444"/>
                </a:solidFill>
                <a:latin typeface="Segoe UI"/>
              </a:rPr>
              <a:t>Estímulo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670048"/>
            <a:ext cx="9171432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Envía un comando de herramienta (p.ej. forzar semáforo) fuera de su sala o de su distrito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64992"/>
            <a:ext cx="2468880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EF4444"/>
                </a:solidFill>
                <a:latin typeface="Segoe UI"/>
              </a:rPr>
              <a:t>Ambiente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3364992"/>
            <a:ext cx="9171432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Operación normal, múltiples usuarios conectados simultáneamente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59936"/>
            <a:ext cx="2468880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EF4444"/>
                </a:solidFill>
                <a:latin typeface="Segoe UI"/>
              </a:rPr>
              <a:t>Artefacto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4059936"/>
            <a:ext cx="9171432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JwtService + filtro de autenticación + ToolController.resolveRoom() / District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54880"/>
            <a:ext cx="2468880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EF4444"/>
                </a:solidFill>
                <a:latin typeface="Segoe UI"/>
              </a:rPr>
              <a:t>Respuesta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4754880"/>
            <a:ext cx="9171432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El JWT lleva el roomCode embebido; cada endpoint valida sala y distrito antes de aplicar el comando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49824"/>
            <a:ext cx="2468880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EF4444"/>
                </a:solidFill>
                <a:latin typeface="Segoe UI"/>
              </a:rPr>
              <a:t>Medida de la respuesta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5449824"/>
            <a:ext cx="9171432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Verificado hoy con curl: comandos fuera del distrito propio rechazados con error explícito, ninguno modificó el estado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2 · ESCENARIOS DE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Escenario de calidad — Modificabilidad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468880" cy="420624"/>
          </a:xfrm>
          <a:prstGeom prst="rect">
            <a:avLst/>
          </a:prstGeom>
          <a:solidFill>
            <a:srgbClr val="7B9FFF"/>
          </a:solidFill>
          <a:ln w="15875">
            <a:solidFill>
              <a:srgbClr val="7B9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Parte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554480"/>
            <a:ext cx="9171432" cy="420624"/>
          </a:xfrm>
          <a:prstGeom prst="rect">
            <a:avLst/>
          </a:prstGeom>
          <a:solidFill>
            <a:srgbClr val="7B9FFF"/>
          </a:solidFill>
          <a:ln w="15875">
            <a:solidFill>
              <a:srgbClr val="7B9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Descripción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75104"/>
            <a:ext cx="2468880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7B9FFF"/>
                </a:solidFill>
                <a:latin typeface="Segoe UI"/>
              </a:rPr>
              <a:t>Fuente del estímulo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975104"/>
            <a:ext cx="9171432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Desarrollador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2468880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7B9FFF"/>
                </a:solidFill>
                <a:latin typeface="Segoe UI"/>
              </a:rPr>
              <a:t>Estímulo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670048"/>
            <a:ext cx="9171432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Se necesita agregar una herramienta administrativa nueva (p.ej. Escudo de Distrito) sin tocar las 5 anteriores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64992"/>
            <a:ext cx="2468880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7B9FFF"/>
                </a:solidFill>
                <a:latin typeface="Segoe UI"/>
              </a:rPr>
              <a:t>Ambiente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3364992"/>
            <a:ext cx="9171432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Tiempo de diseño / build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59936"/>
            <a:ext cx="2468880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7B9FFF"/>
                </a:solidFill>
                <a:latin typeface="Segoe UI"/>
              </a:rPr>
              <a:t>Artefacto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4059936"/>
            <a:ext cx="9171432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Interfaz SpaceDataGrid + patrón resolveRoom() en ToolController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54880"/>
            <a:ext cx="2468880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7B9FFF"/>
                </a:solidFill>
                <a:latin typeface="Segoe UI"/>
              </a:rPr>
              <a:t>Respuesta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4754880"/>
            <a:ext cx="9171432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Se agrega el endpoint reusando el mismo patrón dual-mode (sala/global) y los mismos métodos de District/SpaceDataGrid, sin modificar las herramientas existentes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49824"/>
            <a:ext cx="2468880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7B9FFF"/>
                </a:solidFill>
                <a:latin typeface="Segoe UI"/>
              </a:rPr>
              <a:t>Medida de la respuesta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5449824"/>
            <a:ext cx="9171432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Las 6 herramientas se agregaron y verificaron end-to-end en una sola sesión, sin romper ninguna de las anteriores (mvn clean package + pruebas en Docker en cada paso)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7278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A8B2E0"/>
                </a:solidFill>
                <a:latin typeface="Segoe UI"/>
              </a:rPr>
              <a:t>Táctica aplicada: «Use an Intermediary» (Reduce Coupling) — del material del curso.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2 · ESCENARIOS DE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Escenario de calidad — Observabilidad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468880" cy="420624"/>
          </a:xfrm>
          <a:prstGeom prst="rect">
            <a:avLst/>
          </a:prstGeom>
          <a:solidFill>
            <a:srgbClr val="8B5CF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Parte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554480"/>
            <a:ext cx="9171432" cy="420624"/>
          </a:xfrm>
          <a:prstGeom prst="rect">
            <a:avLst/>
          </a:prstGeom>
          <a:solidFill>
            <a:srgbClr val="8B5CF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Descripción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75104"/>
            <a:ext cx="2468880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8B5CF6"/>
                </a:solidFill>
                <a:latin typeface="Segoe UI"/>
              </a:rPr>
              <a:t>Fuente del estímulo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975104"/>
            <a:ext cx="9171432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Desarrollador diagnosticando una sala específica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2468880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8B5CF6"/>
                </a:solidFill>
                <a:latin typeface="Segoe UI"/>
              </a:rPr>
              <a:t>Estímulo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670048"/>
            <a:ext cx="9171432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Necesidad de confirmar que una sala nueva arrancó bien y está aislada de las demás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64992"/>
            <a:ext cx="2468880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8B5CF6"/>
                </a:solidFill>
                <a:latin typeface="Segoe UI"/>
              </a:rPr>
              <a:t>Ambiente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3364992"/>
            <a:ext cx="9171432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Operación normal o durante el despliegue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59936"/>
            <a:ext cx="2468880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8B5CF6"/>
                </a:solidFill>
                <a:latin typeface="Segoe UI"/>
              </a:rPr>
              <a:t>Artefacto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4059936"/>
            <a:ext cx="9171432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Logs por hilo ("room-&lt;code&gt;") + healthchecks Docker en los 3 servicios con estado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54880"/>
            <a:ext cx="2468880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8B5CF6"/>
                </a:solidFill>
                <a:latin typeface="Segoe UI"/>
              </a:rPr>
              <a:t>Respuesta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4754880"/>
            <a:ext cx="9171432" cy="694944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Cada RoomSimulation registra su arranque/parada; los hilos de sus schedulers llevan el código de sala en el nombre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49824"/>
            <a:ext cx="2468880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50" b="1" i="0">
                <a:solidFill>
                  <a:srgbClr val="8B5CF6"/>
                </a:solidFill>
                <a:latin typeface="Segoe UI"/>
              </a:rPr>
              <a:t>Medida de la respuesta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5449824"/>
            <a:ext cx="9171432" cy="694944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200" b="0" i="0">
                <a:solidFill>
                  <a:srgbClr val="E0E4FF"/>
                </a:solidFill>
                <a:latin typeface="Segoe UI"/>
              </a:rPr>
              <a:t>Confirmado en logs reales: "Sala &lt;code&gt; arrancada", ZoneRegistry con ownership de zonas por instancia, sin mezclarse entre salas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3 · DEFENSA DE LA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Estilo arquitectónico: Space-Based Architecture (SBA)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BDF8"/>
                </a:solidFill>
                <a:latin typeface="Segoe UI"/>
              </a:rPr>
              <a:t>¿Por qué SBA?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3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E0E4FF"/>
                </a:solidFill>
                <a:latin typeface="Segoe UI"/>
              </a:rPr>
              <a:t>El cuello de botella real es el procesamiento</a:t>
            </a:r>
            <a:r>
              <a:rPr sz="1250" b="0" i="0">
                <a:solidFill>
                  <a:srgbClr val="A8B2E0"/>
                </a:solidFill>
                <a:latin typeface="Segoe UI"/>
              </a:rPr>
              <a:t>  de miles de agentes por tick, no las consultas a una BD.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E0E4FF"/>
                </a:solidFill>
                <a:latin typeface="Segoe UI"/>
              </a:rPr>
              <a:t>El "espacio" (Hazelcast)</a:t>
            </a:r>
            <a:r>
              <a:rPr sz="1250" b="0" i="0">
                <a:solidFill>
                  <a:srgbClr val="A8B2E0"/>
                </a:solidFill>
                <a:latin typeface="Segoe UI"/>
              </a:rPr>
              <a:t>  es la fuente de verdad compartida: carros, semáforos, vías cerradas, eventos, overrides.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E0E4FF"/>
                </a:solidFill>
                <a:latin typeface="Segoe UI"/>
              </a:rPr>
              <a:t>Las "processing units" (ZoneProcessingUnit)</a:t>
            </a:r>
            <a:r>
              <a:rPr sz="1250" b="0" i="0">
                <a:solidFill>
                  <a:srgbClr val="A8B2E0"/>
                </a:solidFill>
                <a:latin typeface="Segoe UI"/>
              </a:rPr>
              <a:t>  son sin estado propio persistente: leen/escriben en el espacio y pueden escalar horizontalmente.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E0E4FF"/>
                </a:solidFill>
                <a:latin typeface="Segoe UI"/>
              </a:rPr>
              <a:t>El resultado:</a:t>
            </a:r>
            <a:r>
              <a:rPr sz="1250" b="0" i="0">
                <a:solidFill>
                  <a:srgbClr val="A8B2E0"/>
                </a:solidFill>
                <a:latin typeface="Segoe UI"/>
              </a:rPr>
              <a:t>  agregar un backend replica no requiere sincronizar estado a mano — todos ven el mismo espacio.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C55E"/>
                </a:solidFill>
                <a:latin typeface="Segoe UI"/>
              </a:rPr>
              <a:t>Complementado 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30352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3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E0E4FF"/>
                </a:solidFill>
                <a:latin typeface="Segoe UI"/>
              </a:rPr>
              <a:t>Separación core / engine:</a:t>
            </a:r>
            <a:r>
              <a:rPr sz="1250" b="0" i="0">
                <a:solidFill>
                  <a:srgbClr val="A8B2E0"/>
                </a:solidFill>
                <a:latin typeface="Segoe UI"/>
              </a:rPr>
              <a:t>  simulation-core es dominio puro (sin Spring/Hazelcast); simulation-engine son los adaptadores.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E0E4FF"/>
                </a:solidFill>
                <a:latin typeface="Segoe UI"/>
              </a:rPr>
              <a:t>Multi-tenancy por sala:</a:t>
            </a:r>
            <a:r>
              <a:rPr sz="1250" b="0" i="0">
                <a:solidFill>
                  <a:srgbClr val="A8B2E0"/>
                </a:solidFill>
                <a:latin typeface="Segoe UI"/>
              </a:rPr>
              <a:t>  cada RoomSimulation es una instancia SBA completa, construida a mano (no bean Spring), con namespace propio.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E0E4FF"/>
                </a:solidFill>
                <a:latin typeface="Segoe UI"/>
              </a:rPr>
              <a:t>Pub/Sub (WebSocket STOMP):</a:t>
            </a:r>
            <a:r>
              <a:rPr sz="1250" b="0" i="0">
                <a:solidFill>
                  <a:srgbClr val="A8B2E0"/>
                </a:solidFill>
                <a:latin typeface="Segoe UI"/>
              </a:rPr>
              <a:t>  frames, semáforos y eventos se difunden por topic, no se piden por polling.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E0E4FF"/>
                </a:solidFill>
                <a:latin typeface="Segoe UI"/>
              </a:rPr>
              <a:t>Repository + Strategy:</a:t>
            </a:r>
            <a:r>
              <a:rPr sz="1250" b="0" i="0">
                <a:solidFill>
                  <a:srgbClr val="A8B2E0"/>
                </a:solidFill>
                <a:latin typeface="Segoe UI"/>
              </a:rPr>
              <a:t>  Spring Data JPA para lo durable; PathFinder es una interfaz (AStarPathFinder la implementación).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3 · DEFENSA DE LA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Diagrama de componentes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091672" cy="777240"/>
          </a:xfrm>
          <a:prstGeom prst="roundRect">
            <a:avLst/>
          </a:prstGeom>
          <a:solidFill>
            <a:srgbClr val="8B5CF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Angular Frontend  —  AuthService · WebSocketService (STOMP) · ToolService · Web Worker (OffscreenCanvas)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4476.0" y="2286000"/>
            <a:ext cx="0.0" cy="320040"/>
          </a:xfrm>
          <a:prstGeom prst="line">
            <a:avLst/>
          </a:prstGeom>
          <a:ln w="22225">
            <a:solidFill>
              <a:srgbClr val="7B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10800000">
            <a:off x="6044184" y="2555748"/>
            <a:ext cx="100584" cy="100584"/>
          </a:xfrm>
          <a:prstGeom prst="triangle">
            <a:avLst/>
          </a:prstGeom>
          <a:solidFill>
            <a:srgbClr val="7B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7628" y="233629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A8B2E0"/>
                </a:solidFill>
                <a:latin typeface="Segoe UI"/>
              </a:rPr>
              <a:t>HTTP / WebSocket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11091672" cy="548640"/>
          </a:xfrm>
          <a:prstGeom prst="roundRect">
            <a:avLst/>
          </a:prstGeom>
          <a:solidFill>
            <a:srgbClr val="1B1F3D"/>
          </a:solidFill>
          <a:ln w="1587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E0E4FF"/>
                </a:solidFill>
                <a:latin typeface="Segoe UI"/>
              </a:rPr>
              <a:t>Nginx — Reverse proxy + Load balancer (round-robin sobre backend_pool)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4476.0" y="3154680"/>
            <a:ext cx="0.0" cy="292608"/>
          </a:xfrm>
          <a:prstGeom prst="line">
            <a:avLst/>
          </a:prstGeom>
          <a:ln w="22225">
            <a:solidFill>
              <a:srgbClr val="7B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0800000">
            <a:off x="6044184" y="3396996"/>
            <a:ext cx="100584" cy="100584"/>
          </a:xfrm>
          <a:prstGeom prst="triangle">
            <a:avLst/>
          </a:prstGeom>
          <a:solidFill>
            <a:srgbClr val="7B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447288"/>
            <a:ext cx="5394960" cy="1417320"/>
          </a:xfrm>
          <a:prstGeom prst="roundRect">
            <a:avLst/>
          </a:prstGeom>
          <a:solidFill>
            <a:srgbClr val="3D5AF1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Spring Boot Backend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REST Controllers (Auth/Room/Tool/Event/Presence)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WebSocket STOMP Broker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RoomManager  →  N × RoomSimulation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447288"/>
            <a:ext cx="5394960" cy="1417320"/>
          </a:xfrm>
          <a:prstGeom prst="roundRect">
            <a:avLst/>
          </a:prstGeom>
          <a:solidFill>
            <a:srgbClr val="7B9FFF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 i="0">
                <a:solidFill>
                  <a:srgbClr val="0D0F1E"/>
                </a:solidFill>
                <a:latin typeface="Segoe UI"/>
              </a:rPr>
              <a:t>Por RoomSimulation</a:t>
            </a:r>
          </a:p>
          <a:p>
            <a:pPr algn="ctr"/>
            <a:r>
              <a:rPr sz="1000" b="0" i="0">
                <a:solidFill>
                  <a:srgbClr val="0D0F1E"/>
                </a:solidFill>
                <a:latin typeface="Segoe UI"/>
              </a:rPr>
              <a:t/>
            </a:r>
          </a:p>
          <a:p>
            <a:pPr algn="ctr"/>
            <a:r>
              <a:rPr sz="1000" b="0" i="0">
                <a:solidFill>
                  <a:srgbClr val="0D0F1E"/>
                </a:solidFill>
                <a:latin typeface="Segoe UI"/>
              </a:rPr>
              <a:t>ZoneProcessingUnit × 100 (paralelo)</a:t>
            </a:r>
          </a:p>
          <a:p>
            <a:pPr algn="ctr"/>
            <a:r>
              <a:rPr sz="1000" b="0" i="0">
                <a:solidFill>
                  <a:srgbClr val="0D0F1E"/>
                </a:solidFill>
                <a:latin typeface="Segoe UI"/>
              </a:rPr>
              <a:t>CarAgent · TrafficLightController</a:t>
            </a:r>
          </a:p>
          <a:p>
            <a:pPr algn="ctr"/>
            <a:r>
              <a:rPr sz="1000" b="0" i="0">
                <a:solidFill>
                  <a:srgbClr val="0D0F1E"/>
                </a:solidFill>
                <a:latin typeface="Segoe UI"/>
              </a:rPr>
              <a:t>EventService · ToolController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36876.0" y="4864608"/>
            <a:ext cx="0.0" cy="292608"/>
          </a:xfrm>
          <a:prstGeom prst="line">
            <a:avLst/>
          </a:prstGeom>
          <a:ln w="22225">
            <a:solidFill>
              <a:srgbClr val="1A9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2386584" y="5106924"/>
            <a:ext cx="100584" cy="100584"/>
          </a:xfrm>
          <a:prstGeom prst="triangle">
            <a:avLst/>
          </a:prstGeom>
          <a:solidFill>
            <a:srgbClr val="1A9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0028" y="49011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A8B2E0"/>
                </a:solidFill>
                <a:latin typeface="Segoe UI"/>
              </a:rPr>
              <a:t>IMap / ITopic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70364.0" y="4864608"/>
            <a:ext cx="0.0" cy="292608"/>
          </a:xfrm>
          <a:prstGeom prst="line">
            <a:avLst/>
          </a:prstGeom>
          <a:ln w="22225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9720072" y="5106924"/>
            <a:ext cx="100584" cy="100584"/>
          </a:xfrm>
          <a:prstGeom prst="triangl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43516" y="49011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A8B2E0"/>
                </a:solidFill>
                <a:latin typeface="Segoe UI"/>
              </a:rPr>
              <a:t>JPA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66360"/>
            <a:ext cx="5394960" cy="868680"/>
          </a:xfrm>
          <a:prstGeom prst="roundRect">
            <a:avLst/>
          </a:prstGeom>
          <a:solidFill>
            <a:srgbClr val="1A936F"/>
          </a:solidFill>
          <a:ln w="15875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Hazelcast Data Grid  ("el espacio")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IMap: cars · traffic-lights · blocked-edges · speed-overrides · active-events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ITopic: sim-frames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5166360"/>
            <a:ext cx="5394960" cy="868680"/>
          </a:xfrm>
          <a:prstGeom prst="roundRect">
            <a:avLst/>
          </a:prstGeom>
          <a:solidFill>
            <a:srgbClr val="22C55E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 i="0">
                <a:solidFill>
                  <a:srgbClr val="0D0F1E"/>
                </a:solidFill>
                <a:latin typeface="Segoe UI"/>
              </a:rPr>
              <a:t>PostgreSQL  (persistencia durable)</a:t>
            </a:r>
          </a:p>
          <a:p>
            <a:pPr algn="ctr"/>
            <a:r>
              <a:rPr sz="950" b="0" i="0">
                <a:solidFill>
                  <a:srgbClr val="0D0F1E"/>
                </a:solidFill>
                <a:latin typeface="Segoe UI"/>
              </a:rPr>
              <a:t>users · rooms · simulation_events · event_actions</a:t>
            </a:r>
          </a:p>
          <a:p>
            <a:pPr algn="ctr"/>
            <a:r>
              <a:rPr sz="950" b="0" i="0">
                <a:solidFill>
                  <a:srgbClr val="0D0F1E"/>
                </a:solidFill>
                <a:latin typeface="Segoe UI"/>
              </a:rPr>
              <a:t>car_snapshots (auditoría / replay)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3 · DEFENSA DE LA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Diagrama de despliegue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8B2E0"/>
                </a:solidFill>
                <a:latin typeface="Segoe UI"/>
              </a:rPr>
              <a:t>docker-compose · red bridge "city-net"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47120" cy="4892040"/>
          </a:xfrm>
          <a:prstGeom prst="roundRect">
            <a:avLst/>
          </a:prstGeom>
          <a:noFill/>
          <a:ln w="19050">
            <a:solidFill>
              <a:srgbClr val="4A5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A8B2E0"/>
                </a:solidFill>
                <a:latin typeface="Segoe UI"/>
              </a:rPr>
              <a:t>red: city-net (bridge)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2377440" cy="822960"/>
          </a:xfrm>
          <a:prstGeom prst="roundRect">
            <a:avLst/>
          </a:prstGeom>
          <a:solidFill>
            <a:srgbClr val="EAB308"/>
          </a:solidFill>
          <a:ln w="1587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 i="0">
                <a:solidFill>
                  <a:srgbClr val="0D0F1E"/>
                </a:solidFill>
                <a:latin typeface="Segoe UI"/>
              </a:rPr>
              <a:t>nginx</a:t>
            </a:r>
          </a:p>
          <a:p>
            <a:pPr algn="ctr"/>
            <a:r>
              <a:rPr sz="1100" b="0" i="0">
                <a:solidFill>
                  <a:srgbClr val="0D0F1E"/>
                </a:solidFill>
                <a:latin typeface="Segoe UI"/>
              </a:rPr>
              <a:t>port 8080:80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331720"/>
            <a:ext cx="822960" cy="0"/>
          </a:xfrm>
          <a:prstGeom prst="line">
            <a:avLst/>
          </a:prstGeom>
          <a:ln w="22225">
            <a:solidFill>
              <a:srgbClr val="7B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3973068" y="2281428"/>
            <a:ext cx="100584" cy="100584"/>
          </a:xfrm>
          <a:prstGeom prst="triangle">
            <a:avLst/>
          </a:prstGeom>
          <a:solidFill>
            <a:srgbClr val="7B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0" y="1417320"/>
            <a:ext cx="2286000" cy="594360"/>
          </a:xfrm>
          <a:prstGeom prst="roundRect">
            <a:avLst/>
          </a:prstGeom>
          <a:solidFill>
            <a:srgbClr val="8B5CF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frontend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(Angular build)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148840"/>
            <a:ext cx="2286000" cy="1371600"/>
          </a:xfrm>
          <a:prstGeom prst="roundRect">
            <a:avLst/>
          </a:prstGeom>
          <a:solidFill>
            <a:srgbClr val="3D5AF1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backend  ×N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port 8081:8080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(escalable: scale.yml)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0" y="2331720"/>
            <a:ext cx="1737360" cy="0"/>
          </a:xfrm>
          <a:prstGeom prst="line">
            <a:avLst/>
          </a:prstGeom>
          <a:ln w="22225">
            <a:solidFill>
              <a:srgbClr val="1A9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8087868" y="2281428"/>
            <a:ext cx="100584" cy="100584"/>
          </a:xfrm>
          <a:prstGeom prst="triangle">
            <a:avLst/>
          </a:prstGeom>
          <a:solidFill>
            <a:srgbClr val="1A9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39112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A8B2E0"/>
                </a:solidFill>
                <a:latin typeface="Segoe UI"/>
              </a:rPr>
              <a:t>5701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0" y="3200400"/>
            <a:ext cx="1737360" cy="0"/>
          </a:xfrm>
          <a:prstGeom prst="line">
            <a:avLst/>
          </a:prstGeom>
          <a:ln w="22225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8087868" y="3150108"/>
            <a:ext cx="100584" cy="100584"/>
          </a:xfrm>
          <a:prstGeom prst="triangl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07792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A8B2E0"/>
                </a:solidFill>
                <a:latin typeface="Segoe UI"/>
              </a:rPr>
              <a:t>5432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691640"/>
            <a:ext cx="2834640" cy="822960"/>
          </a:xfrm>
          <a:prstGeom prst="roundRect">
            <a:avLst/>
          </a:prstGeom>
          <a:solidFill>
            <a:srgbClr val="1A936F"/>
          </a:solidFill>
          <a:ln w="15875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hz-node  ×N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port 5701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HZ_CLUSTERNAME=city-cluster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788920"/>
            <a:ext cx="2834640" cy="822960"/>
          </a:xfrm>
          <a:prstGeom prst="roundRect">
            <a:avLst/>
          </a:prstGeom>
          <a:solidFill>
            <a:srgbClr val="22C55E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 i="0">
                <a:solidFill>
                  <a:srgbClr val="0D0F1E"/>
                </a:solidFill>
                <a:latin typeface="Segoe UI"/>
              </a:rPr>
              <a:t>postgres 16-alpine</a:t>
            </a:r>
          </a:p>
          <a:p>
            <a:pPr algn="ctr"/>
            <a:r>
              <a:rPr sz="1000" b="0" i="0">
                <a:solidFill>
                  <a:srgbClr val="0D0F1E"/>
                </a:solidFill>
                <a:latin typeface="Segoe UI"/>
              </a:rPr>
              <a:t>port 5432</a:t>
            </a:r>
          </a:p>
          <a:p>
            <a:pPr algn="ctr"/>
            <a:r>
              <a:rPr sz="1000" b="0" i="0">
                <a:solidFill>
                  <a:srgbClr val="0D0F1E"/>
                </a:solidFill>
                <a:latin typeface="Segoe UI"/>
              </a:rPr>
              <a:t>volumen: postgres-data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77639"/>
            <a:ext cx="1014984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E0E4FF"/>
                </a:solidFill>
                <a:latin typeface="Segoe UI"/>
              </a:rPr>
              <a:t>Healthchecks en los 3 servicios con estado</a:t>
            </a:r>
            <a:r>
              <a:rPr sz="1200" b="0" i="0">
                <a:solidFill>
                  <a:srgbClr val="A8B2E0"/>
                </a:solidFill>
                <a:latin typeface="Segoe UI"/>
              </a:rPr>
              <a:t>  (hz-node, backend, postgres) con retries y start_period antes de aceptar tráfico.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E0E4FF"/>
                </a:solidFill>
                <a:latin typeface="Segoe UI"/>
              </a:rPr>
              <a:t>docker-compose.scale.yml</a:t>
            </a:r>
            <a:r>
              <a:rPr sz="1200" b="0" i="0">
                <a:solidFill>
                  <a:srgbClr val="A8B2E0"/>
                </a:solidFill>
                <a:latin typeface="Segoe UI"/>
              </a:rPr>
              <a:t>  sube 6 réplicas de backend + 4 nodos Hazelcast (capacidad probada: 10,000+ autos) sin cambiar código.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E0E4FF"/>
                </a:solidFill>
                <a:latin typeface="Segoe UI"/>
              </a:rPr>
              <a:t>Despliegue actual (recursos de laboratorio/estudiante)</a:t>
            </a:r>
            <a:r>
              <a:rPr sz="1200" b="0" i="0">
                <a:solidFill>
                  <a:srgbClr val="A8B2E0"/>
                </a:solidFill>
                <a:latin typeface="Segoe UI"/>
              </a:rPr>
              <a:t>  corre topología mínima de 1 réplica por servicio; el escalado horizontal queda disponible pero sin usar.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3 · DEFENSA DE LA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Diagrama de clases (dominio, simplificado)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468880" cy="1417320"/>
          </a:xfrm>
          <a:prstGeom prst="rect">
            <a:avLst/>
          </a:prstGeom>
          <a:solidFill>
            <a:srgbClr val="3D5AF1"/>
          </a:solidFill>
          <a:ln w="19050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E0E4FF"/>
                </a:solidFill>
                <a:latin typeface="Segoe UI"/>
              </a:rPr>
              <a:t>RoomSimulation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+ start() / stop()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+ getSpace()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+ getDistrictService()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+ getClock()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463040"/>
            <a:ext cx="2286000" cy="1417320"/>
          </a:xfrm>
          <a:prstGeom prst="rect">
            <a:avLst/>
          </a:prstGeom>
          <a:solidFill>
            <a:srgbClr val="151830"/>
          </a:solidFill>
          <a:ln w="19050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0" i="1">
                <a:solidFill>
                  <a:srgbClr val="A8B2E0"/>
                </a:solidFill>
                <a:latin typeface="Segoe UI"/>
              </a:rPr>
              <a:t>«interface»</a:t>
            </a:r>
          </a:p>
          <a:p>
            <a:pPr algn="ctr"/>
            <a:r>
              <a:rPr sz="1250" b="1" i="0">
                <a:solidFill>
                  <a:srgbClr val="E0E4FF"/>
                </a:solidFill>
                <a:latin typeface="Segoe UI"/>
              </a:rPr>
              <a:t>SpaceDataGrid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putCar() / getCar()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blockEdge()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putSpeedOverride()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getActiveEvent()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2468880" cy="1417320"/>
          </a:xfrm>
          <a:prstGeom prst="rect">
            <a:avLst/>
          </a:prstGeom>
          <a:solidFill>
            <a:srgbClr val="1A936F"/>
          </a:solidFill>
          <a:ln w="19050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E0E4FF"/>
                </a:solidFill>
                <a:latin typeface="Segoe UI"/>
              </a:rPr>
              <a:t>HazelcastSpaceDataGrid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prefix: "room:&lt;code&gt;:"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IMap por sala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ITopic sim-frames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463040"/>
            <a:ext cx="2743200" cy="1417320"/>
          </a:xfrm>
          <a:prstGeom prst="rect">
            <a:avLst/>
          </a:prstGeom>
          <a:solidFill>
            <a:srgbClr val="151830"/>
          </a:solidFill>
          <a:ln w="1905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E0E4FF"/>
                </a:solidFill>
                <a:latin typeface="Segoe UI"/>
              </a:rPr>
              <a:t>TrafficLightController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forceGreen(id, hor, ticks)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intersectionsAlongAvenue()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getMajorLights()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2468880" cy="1417320"/>
          </a:xfrm>
          <a:prstGeom prst="rect">
            <a:avLst/>
          </a:prstGeom>
          <a:solidFill>
            <a:srgbClr val="151830"/>
          </a:solidFill>
          <a:ln w="19050">
            <a:solidFill>
              <a:srgbClr val="7B9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E0E4FF"/>
                </a:solidFill>
                <a:latin typeface="Segoe UI"/>
              </a:rPr>
              <a:t>District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zoneIds: List&lt;String&gt;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minCol / maxCol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headZone()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200400"/>
            <a:ext cx="2286000" cy="1417320"/>
          </a:xfrm>
          <a:prstGeom prst="rect">
            <a:avLst/>
          </a:prstGeom>
          <a:solidFill>
            <a:srgbClr val="151830"/>
          </a:solidFill>
          <a:ln w="19050">
            <a:solidFill>
              <a:srgbClr val="7B9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E0E4FF"/>
                </a:solidFill>
                <a:latin typeface="Segoe UI"/>
              </a:rPr>
              <a:t>ZoneProcessingUnit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tick(tickNumber)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adoptCar() / releaseCar()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drainDeltas()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200400"/>
            <a:ext cx="2468880" cy="1417320"/>
          </a:xfrm>
          <a:prstGeom prst="rect">
            <a:avLst/>
          </a:prstGeom>
          <a:solidFill>
            <a:srgbClr val="151830"/>
          </a:solidFill>
          <a:ln w="19050">
            <a:solidFill>
              <a:srgbClr val="7B9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E0E4FF"/>
                </a:solidFill>
                <a:latin typeface="Segoe UI"/>
              </a:rPr>
              <a:t>CarAgent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advance(car, map, ...,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  blocked, overrides)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stateless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3200400"/>
            <a:ext cx="2743200" cy="1417320"/>
          </a:xfrm>
          <a:prstGeom prst="rect">
            <a:avLst/>
          </a:prstGeom>
          <a:solidFill>
            <a:srgbClr val="151830"/>
          </a:solidFill>
          <a:ln w="1905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E0E4FF"/>
                </a:solidFill>
                <a:latin typeface="Segoe UI"/>
              </a:rPr>
              <a:t>SpeedOverride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edgeId, factor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expiresAtTick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placedBy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37760"/>
            <a:ext cx="3108960" cy="1417320"/>
          </a:xfrm>
          <a:prstGeom prst="rect">
            <a:avLst/>
          </a:prstGeom>
          <a:solidFill>
            <a:srgbClr val="151830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E0E4FF"/>
                </a:solidFill>
                <a:latin typeface="Segoe UI"/>
              </a:rPr>
              <a:t>EventState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eventId, type, status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objectives: Map&lt;zoneId,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  EventObjective&gt;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4937760"/>
            <a:ext cx="3108960" cy="1417320"/>
          </a:xfrm>
          <a:prstGeom prst="rect">
            <a:avLst/>
          </a:prstGeom>
          <a:solidFill>
            <a:srgbClr val="151830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E0E4FF"/>
                </a:solidFill>
                <a:latin typeface="Segoe UI"/>
              </a:rPr>
              <a:t>EventObjective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kind: ObjectiveKind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threshold / current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completed / failed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4937760"/>
            <a:ext cx="4114800" cy="1417320"/>
          </a:xfrm>
          <a:prstGeom prst="rect">
            <a:avLst/>
          </a:prstGeom>
          <a:solidFill>
            <a:srgbClr val="3D5AF1"/>
          </a:solidFill>
          <a:ln w="19050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E0E4FF"/>
                </a:solidFill>
                <a:latin typeface="Segoe UI"/>
              </a:rPr>
              <a:t>ToolController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closeEdge · forceGreen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greenWave · speedTrap/Boost</a:t>
            </a:r>
          </a:p>
          <a:p>
            <a:pPr algn="l"/>
            <a:r>
              <a:rPr sz="1000" b="0" i="0">
                <a:solidFill>
                  <a:srgbClr val="A8B2E0"/>
                </a:solidFill>
                <a:latin typeface="Consolas"/>
              </a:rPr>
              <a:t>  trafficBomb · districtShield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17520" y="2148840"/>
            <a:ext cx="365760" cy="0"/>
          </a:xfrm>
          <a:prstGeom prst="line">
            <a:avLst/>
          </a:prstGeom>
          <a:ln w="19050">
            <a:solidFill>
              <a:srgbClr val="A8B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69280" y="2148840"/>
            <a:ext cx="365760" cy="0"/>
          </a:xfrm>
          <a:prstGeom prst="line">
            <a:avLst/>
          </a:prstGeom>
          <a:ln w="19050">
            <a:solidFill>
              <a:srgbClr val="1A9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03920" y="2148840"/>
            <a:ext cx="365760" cy="0"/>
          </a:xfrm>
          <a:prstGeom prst="line">
            <a:avLst/>
          </a:prstGeom>
          <a:ln w="19050">
            <a:solidFill>
              <a:srgbClr val="EAB3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83080" y="2880360"/>
            <a:ext cx="0" cy="320040"/>
          </a:xfrm>
          <a:prstGeom prst="line">
            <a:avLst/>
          </a:prstGeom>
          <a:ln w="19050">
            <a:solidFill>
              <a:srgbClr val="7B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26280" y="2880360"/>
            <a:ext cx="0" cy="320040"/>
          </a:xfrm>
          <a:prstGeom prst="line">
            <a:avLst/>
          </a:prstGeom>
          <a:ln w="19050">
            <a:solidFill>
              <a:srgbClr val="7B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15200" y="2880360"/>
            <a:ext cx="0" cy="320040"/>
          </a:xfrm>
          <a:prstGeom prst="line">
            <a:avLst/>
          </a:prstGeom>
          <a:ln w="19050">
            <a:solidFill>
              <a:srgbClr val="7B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83080" y="4617720"/>
            <a:ext cx="0" cy="320040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3 · DEFENSA DE LA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Diagrama entidad-relación (PostgreSQL)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743200" cy="1261872"/>
          </a:xfrm>
          <a:prstGeom prst="rect">
            <a:avLst/>
          </a:prstGeom>
          <a:solidFill>
            <a:srgbClr val="151830"/>
          </a:solidFill>
          <a:ln w="19050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4048" lIns="101600"/>
          <a:lstStyle/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PK id</a:t>
            </a:r>
          </a:p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UQ username</a:t>
            </a:r>
          </a:p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   password</a:t>
            </a:r>
          </a:p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   zoneId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2743200" cy="365760"/>
          </a:xfrm>
          <a:prstGeom prst="rect">
            <a:avLst/>
          </a:prstGeom>
          <a:solidFill>
            <a:srgbClr val="3D5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4760" y="1508760"/>
            <a:ext cx="2743200" cy="1481328"/>
          </a:xfrm>
          <a:prstGeom prst="rect">
            <a:avLst/>
          </a:prstGeom>
          <a:solidFill>
            <a:srgbClr val="151830"/>
          </a:solidFill>
          <a:ln w="19050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4048" lIns="101600"/>
          <a:lstStyle/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PK id</a:t>
            </a:r>
          </a:p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UQ code</a:t>
            </a:r>
          </a:p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   name / createdBy</a:t>
            </a:r>
          </a:p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   maxPlayers / status</a:t>
            </a:r>
          </a:p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   createdAt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1508760"/>
            <a:ext cx="2743200" cy="365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rooms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508760"/>
            <a:ext cx="2926080" cy="1481328"/>
          </a:xfrm>
          <a:prstGeom prst="rect">
            <a:avLst/>
          </a:prstGeom>
          <a:solidFill>
            <a:srgbClr val="151830"/>
          </a:solidFill>
          <a:ln w="19050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4048" lIns="101600"/>
          <a:lstStyle/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PK id</a:t>
            </a:r>
          </a:p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   type / status</a:t>
            </a:r>
          </a:p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   affectedZoneId</a:t>
            </a:r>
          </a:p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   durationSeconds</a:t>
            </a:r>
          </a:p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   startedAt / resolvedAt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508760"/>
            <a:ext cx="2926080" cy="3657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simulation_events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3931920"/>
            <a:ext cx="2926080" cy="1042415"/>
          </a:xfrm>
          <a:prstGeom prst="rect">
            <a:avLst/>
          </a:prstGeom>
          <a:solidFill>
            <a:srgbClr val="151830"/>
          </a:solidFill>
          <a:ln w="19050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4048" lIns="101600"/>
          <a:lstStyle/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FK event_id</a:t>
            </a:r>
          </a:p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PK zone_id</a:t>
            </a:r>
          </a:p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   action_count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931920"/>
            <a:ext cx="2926080" cy="3657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event_actions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2743200" cy="1261872"/>
          </a:xfrm>
          <a:prstGeom prst="rect">
            <a:avLst/>
          </a:prstGeom>
          <a:solidFill>
            <a:srgbClr val="151830"/>
          </a:solidFill>
          <a:ln w="19050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4048" lIns="101600"/>
          <a:lstStyle/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PK id</a:t>
            </a:r>
          </a:p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   tick / car_id</a:t>
            </a:r>
          </a:p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   x / y / zone_id</a:t>
            </a:r>
          </a:p>
          <a:p>
            <a:pPr algn="l"/>
            <a:r>
              <a:rPr sz="1050" b="0" i="0">
                <a:solidFill>
                  <a:srgbClr val="A8B2E0"/>
                </a:solidFill>
                <a:latin typeface="Consolas"/>
              </a:rPr>
              <a:t>   status / snapshot_at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2743200" cy="365760"/>
          </a:xfrm>
          <a:prstGeom prst="rect">
            <a:avLst/>
          </a:prstGeom>
          <a:solidFill>
            <a:srgbClr val="1A9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car_snapshots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03920.0" y="2990088"/>
            <a:ext cx="0.0" cy="941832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55280" y="3044952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EF4444"/>
                </a:solidFill>
                <a:latin typeface="Segoe UI"/>
              </a:rPr>
              <a:t>1 —— 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931920"/>
            <a:ext cx="2743200" cy="2331720"/>
          </a:xfrm>
          <a:prstGeom prst="roundRect">
            <a:avLst/>
          </a:prstGeom>
          <a:solidFill>
            <a:srgbClr val="1B1F3D"/>
          </a:solidFill>
          <a:ln w="1587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100" b="0" i="0">
                <a:solidFill>
                  <a:srgbClr val="A8B2E0"/>
                </a:solidFill>
                <a:latin typeface="Segoe UI"/>
              </a:rPr>
              <a:t>Nota de diseño</a:t>
            </a:r>
          </a:p>
          <a:p>
            <a:pPr algn="l"/>
            <a:r>
              <a:rPr sz="900" b="0" i="0">
                <a:solidFill>
                  <a:srgbClr val="A8B2E0"/>
                </a:solidFill>
                <a:latin typeface="Segoe UI"/>
              </a:rPr>
              <a:t/>
            </a:r>
          </a:p>
          <a:p>
            <a:pPr algn="l"/>
            <a:r>
              <a:rPr sz="900" b="0" i="0">
                <a:solidFill>
                  <a:srgbClr val="A8B2E0"/>
                </a:solidFill>
                <a:latin typeface="Segoe UI"/>
              </a:rPr>
              <a:t>users, rooms y car_snapshots NO tienen FK</a:t>
            </a:r>
          </a:p>
          <a:p>
            <a:pPr algn="l"/>
            <a:r>
              <a:rPr sz="900" b="0" i="0">
                <a:solidFill>
                  <a:srgbClr val="A8B2E0"/>
                </a:solidFill>
                <a:latin typeface="Segoe UI"/>
              </a:rPr>
              <a:t>entre sí todavía: el scoping por sala vive</a:t>
            </a:r>
          </a:p>
          <a:p>
            <a:pPr algn="l"/>
            <a:r>
              <a:rPr sz="900" b="0" i="0">
                <a:solidFill>
                  <a:srgbClr val="A8B2E0"/>
                </a:solidFill>
                <a:latin typeface="Segoe UI"/>
              </a:rPr>
              <a:t>en Hazelcast (prefijo "room:&lt;code&gt;:"),</a:t>
            </a:r>
          </a:p>
          <a:p>
            <a:pPr algn="l"/>
            <a:r>
              <a:rPr sz="900" b="0" i="0">
                <a:solidFill>
                  <a:srgbClr val="A8B2E0"/>
                </a:solidFill>
                <a:latin typeface="Segoe UI"/>
              </a:rPr>
              <a:t>no en Postgres.</a:t>
            </a:r>
          </a:p>
          <a:p>
            <a:pPr algn="l"/>
            <a:r>
              <a:rPr sz="900" b="0" i="0">
                <a:solidFill>
                  <a:srgbClr val="A8B2E0"/>
                </a:solidFill>
                <a:latin typeface="Segoe UI"/>
              </a:rPr>
              <a:t/>
            </a:r>
          </a:p>
          <a:p>
            <a:pPr algn="l"/>
            <a:r>
              <a:rPr sz="900" b="0" i="0">
                <a:solidFill>
                  <a:srgbClr val="A8B2E0"/>
                </a:solidFill>
                <a:latin typeface="Segoe UI"/>
              </a:rPr>
              <a:t>Riesgo documentado en el cierre.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3 · DEFENSA DE LA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Diagrama de secuencia — caso de uso en tiempo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072579" cy="502920"/>
          </a:xfrm>
          <a:prstGeom prst="roundRect">
            <a:avLst/>
          </a:prstGeom>
          <a:solidFill>
            <a:srgbClr val="3D5AF1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SimulationClock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76369.5" y="2011680"/>
            <a:ext cx="0.0" cy="4297680"/>
          </a:xfrm>
          <a:prstGeom prst="line">
            <a:avLst/>
          </a:prstGeom>
          <a:ln w="12700">
            <a:solidFill>
              <a:srgbClr val="4A5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49819" y="1508760"/>
            <a:ext cx="2072579" cy="502920"/>
          </a:xfrm>
          <a:prstGeom prst="roundRect">
            <a:avLst/>
          </a:prstGeom>
          <a:solidFill>
            <a:srgbClr val="1A936F"/>
          </a:solidFill>
          <a:ln w="15875">
            <a:solidFill>
              <a:srgbClr val="1A9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ZoneProcessingUnit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+ CarAgent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86108.5" y="2011680"/>
            <a:ext cx="0.0" cy="4297680"/>
          </a:xfrm>
          <a:prstGeom prst="line">
            <a:avLst/>
          </a:prstGeom>
          <a:ln w="12700">
            <a:solidFill>
              <a:srgbClr val="4A5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59558" y="1508760"/>
            <a:ext cx="2072579" cy="502920"/>
          </a:xfrm>
          <a:prstGeom prst="roundRect">
            <a:avLst/>
          </a:prstGeom>
          <a:solidFill>
            <a:srgbClr val="8B5CF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Hazelcast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(Space + ITopic)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7.5" y="2011680"/>
            <a:ext cx="0.0" cy="4297680"/>
          </a:xfrm>
          <a:prstGeom prst="line">
            <a:avLst/>
          </a:prstGeom>
          <a:ln w="12700">
            <a:solidFill>
              <a:srgbClr val="4A5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69297" y="1508760"/>
            <a:ext cx="2072579" cy="502920"/>
          </a:xfrm>
          <a:prstGeom prst="roundRect">
            <a:avLst/>
          </a:prstGeom>
          <a:solidFill>
            <a:srgbClr val="EAB308"/>
          </a:solidFill>
          <a:ln w="1587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 i="0">
                <a:solidFill>
                  <a:srgbClr val="0D0F1E"/>
                </a:solidFill>
                <a:latin typeface="Segoe UI"/>
              </a:rPr>
              <a:t>STOMP Broker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05586.5" y="2011680"/>
            <a:ext cx="0.0" cy="4297680"/>
          </a:xfrm>
          <a:prstGeom prst="line">
            <a:avLst/>
          </a:prstGeom>
          <a:ln w="12700">
            <a:solidFill>
              <a:srgbClr val="4A5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79036" y="1508760"/>
            <a:ext cx="2072579" cy="502920"/>
          </a:xfrm>
          <a:prstGeom prst="roundRect">
            <a:avLst/>
          </a:prstGeom>
          <a:solidFill>
            <a:srgbClr val="22C55E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Frontend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(WS + Worker)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15325.5" y="2011680"/>
            <a:ext cx="0.0" cy="4297680"/>
          </a:xfrm>
          <a:prstGeom prst="line">
            <a:avLst/>
          </a:prstGeom>
          <a:ln w="12700">
            <a:solidFill>
              <a:srgbClr val="4A5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76369.5" y="2331720"/>
            <a:ext cx="2209739.0" cy="0"/>
          </a:xfrm>
          <a:prstGeom prst="line">
            <a:avLst/>
          </a:prstGeom>
          <a:ln w="22225">
            <a:solidFill>
              <a:srgbClr val="3D5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3840388" y="2286000"/>
            <a:ext cx="91440" cy="91440"/>
          </a:xfrm>
          <a:prstGeom prst="triangle">
            <a:avLst/>
          </a:prstGeom>
          <a:solidFill>
            <a:srgbClr val="3D5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76369" y="2093976"/>
            <a:ext cx="23011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A8B2E0"/>
                </a:solidFill>
                <a:latin typeface="Segoe UI"/>
              </a:rPr>
              <a:t>tick(tickNumber)  [cada 50 ms]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86108.5" y="2862072"/>
            <a:ext cx="457200.0" cy="0"/>
          </a:xfrm>
          <a:prstGeom prst="line">
            <a:avLst/>
          </a:prstGeom>
          <a:ln w="19050">
            <a:solidFill>
              <a:srgbClr val="A8B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343308.5" y="2862072"/>
            <a:ext cx="0.0" cy="201168"/>
          </a:xfrm>
          <a:prstGeom prst="line">
            <a:avLst/>
          </a:prstGeom>
          <a:ln w="19050">
            <a:solidFill>
              <a:srgbClr val="A8B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886108.5" y="3063240"/>
            <a:ext cx="457200.0" cy="0"/>
          </a:xfrm>
          <a:prstGeom prst="line">
            <a:avLst/>
          </a:prstGeom>
          <a:ln w="19050">
            <a:solidFill>
              <a:srgbClr val="A8B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6200000">
            <a:off x="3844960" y="3022092"/>
            <a:ext cx="82296" cy="82296"/>
          </a:xfrm>
          <a:prstGeom prst="triangle">
            <a:avLst/>
          </a:prstGeom>
          <a:solidFill>
            <a:srgbClr val="A8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95836" y="260604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A8B2E0"/>
                </a:solidFill>
                <a:latin typeface="Segoe UI"/>
              </a:rPr>
              <a:t>advance(car, blocked, overrides)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86108.5" y="3392424"/>
            <a:ext cx="2209739.0" cy="0"/>
          </a:xfrm>
          <a:prstGeom prst="line">
            <a:avLst/>
          </a:prstGeom>
          <a:ln w="22225">
            <a:solidFill>
              <a:srgbClr val="1A9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6050127" y="3346704"/>
            <a:ext cx="91440" cy="91440"/>
          </a:xfrm>
          <a:prstGeom prst="triangle">
            <a:avLst/>
          </a:prstGeom>
          <a:solidFill>
            <a:srgbClr val="1A9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108" y="3154680"/>
            <a:ext cx="23011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A8B2E0"/>
                </a:solidFill>
                <a:latin typeface="Segoe UI"/>
              </a:rPr>
              <a:t>putCar(newState) / getSpeedOverrides()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5847.5" y="3922776"/>
            <a:ext cx="457200.0" cy="0"/>
          </a:xfrm>
          <a:prstGeom prst="line">
            <a:avLst/>
          </a:prstGeom>
          <a:ln w="19050">
            <a:solidFill>
              <a:srgbClr val="A8B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53047.5" y="3922776"/>
            <a:ext cx="0.0" cy="201168"/>
          </a:xfrm>
          <a:prstGeom prst="line">
            <a:avLst/>
          </a:prstGeom>
          <a:ln w="19050">
            <a:solidFill>
              <a:srgbClr val="A8B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095847.5" y="4123944"/>
            <a:ext cx="457200.0" cy="0"/>
          </a:xfrm>
          <a:prstGeom prst="line">
            <a:avLst/>
          </a:prstGeom>
          <a:ln w="19050">
            <a:solidFill>
              <a:srgbClr val="A8B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6200000">
            <a:off x="6054699" y="4082796"/>
            <a:ext cx="82296" cy="82296"/>
          </a:xfrm>
          <a:prstGeom prst="triangle">
            <a:avLst/>
          </a:prstGeom>
          <a:solidFill>
            <a:srgbClr val="A8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05575" y="3666744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A8B2E0"/>
                </a:solidFill>
                <a:latin typeface="Segoe UI"/>
              </a:rPr>
              <a:t>publishFrame()  →  ITopic sim-frames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95847.5" y="4453128"/>
            <a:ext cx="2209739.0" cy="0"/>
          </a:xfrm>
          <a:prstGeom prst="line">
            <a:avLst/>
          </a:prstGeom>
          <a:ln w="22225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8259866" y="4407408"/>
            <a:ext cx="91440" cy="91440"/>
          </a:xfrm>
          <a:prstGeom prst="triangl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5847" y="4215384"/>
            <a:ext cx="23011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A8B2E0"/>
                </a:solidFill>
                <a:latin typeface="Segoe UI"/>
              </a:rPr>
              <a:t>listener: convertAndSend(/topic/rooms/{code}/cars)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05586.5" y="4983480"/>
            <a:ext cx="2209739.0" cy="0"/>
          </a:xfrm>
          <a:prstGeom prst="line">
            <a:avLst/>
          </a:prstGeom>
          <a:ln w="22225">
            <a:solidFill>
              <a:srgbClr val="EAB3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10469605" y="4937760"/>
            <a:ext cx="91440" cy="91440"/>
          </a:xfrm>
          <a:prstGeom prst="triangl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5586" y="4745736"/>
            <a:ext cx="23011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A8B2E0"/>
                </a:solidFill>
                <a:latin typeface="Segoe UI"/>
              </a:rPr>
              <a:t>STOMP frame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515325.5" y="5513832"/>
            <a:ext cx="457200.0" cy="0"/>
          </a:xfrm>
          <a:prstGeom prst="line">
            <a:avLst/>
          </a:prstGeom>
          <a:ln w="19050">
            <a:solidFill>
              <a:srgbClr val="A8B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972525.5" y="5513832"/>
            <a:ext cx="0.0" cy="201168"/>
          </a:xfrm>
          <a:prstGeom prst="line">
            <a:avLst/>
          </a:prstGeom>
          <a:ln w="19050">
            <a:solidFill>
              <a:srgbClr val="A8B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0515325.5" y="5715000"/>
            <a:ext cx="457200.0" cy="0"/>
          </a:xfrm>
          <a:prstGeom prst="line">
            <a:avLst/>
          </a:prstGeom>
          <a:ln w="19050">
            <a:solidFill>
              <a:srgbClr val="A8B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6200000">
            <a:off x="10474177" y="5673852"/>
            <a:ext cx="82296" cy="82296"/>
          </a:xfrm>
          <a:prstGeom prst="triangle">
            <a:avLst/>
          </a:prstGeom>
          <a:solidFill>
            <a:srgbClr val="A8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25053" y="5257800"/>
            <a:ext cx="3474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A8B2E0"/>
                </a:solidFill>
                <a:latin typeface="Segoe UI"/>
              </a:rPr>
              <a:t>worker.postMessage('frame')  →  render() @60fps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3 · DEFENSA DE LA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Patrones, restricciones y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BDF8"/>
                </a:solidFill>
                <a:latin typeface="Segoe UI"/>
              </a:rPr>
              <a:t>Patrones aplicados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48640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Space-Based Architecture: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Hazelcast como espacio compartido + processing units sin estado propio.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Builder inmutable: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CarState, TrafficLightPhase, District.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Strategy: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PathFinder «interface» ↔ AStarPathFinder.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Repository: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Spring Data JPA para lo durable.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Pub/Sub: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WebSocket STOMP por sala, sin polling.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AB308"/>
                </a:solidFill>
                <a:latin typeface="Segoe UI"/>
              </a:rPr>
              <a:t>Restricciones tecnológicas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74519"/>
            <a:ext cx="539496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Java 21 + Spring Boot 3.4.5,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Hazelcast 5.3.8: fijado por compatibilidad de dependencias del curso.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Hilos virtuales (Thread.ofVirtual)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para expirar efectos temporales sin agregar schedulers permanentes.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Tick propio, no reloj de pared: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los overrides expiran comparando tickNumber, evitando drift entre nodos.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F4444"/>
                </a:solidFill>
                <a:latin typeface="Segoe UI"/>
              </a:rPr>
              <a:t>Trade-offs y alternativas descartadas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63440"/>
            <a:ext cx="3657600" cy="365760"/>
          </a:xfrm>
          <a:prstGeom prst="rect">
            <a:avLst/>
          </a:prstGeom>
          <a:solidFill>
            <a:srgbClr val="3D5AF1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Decisión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4663440"/>
            <a:ext cx="3383280" cy="365760"/>
          </a:xfrm>
          <a:prstGeom prst="rect">
            <a:avLst/>
          </a:prstGeom>
          <a:solidFill>
            <a:srgbClr val="3D5AF1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Alternativa descartada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4663440"/>
            <a:ext cx="4114800" cy="365760"/>
          </a:xfrm>
          <a:prstGeom prst="rect">
            <a:avLst/>
          </a:prstGeom>
          <a:solidFill>
            <a:srgbClr val="3D5AF1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Por qué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029200"/>
            <a:ext cx="3657600" cy="566928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Un RoomSimulation completo por sala</a:t>
            </a:r>
          </a:p>
          <a:p>
            <a:pPr algn="l"/>
            <a:r>
              <a:rPr sz="850" b="0" i="0">
                <a:solidFill>
                  <a:srgbClr val="E0E4FF"/>
                </a:solidFill>
                <a:latin typeface="Segoe UI"/>
              </a:rPr>
              <a:t>(hilos + estado propios)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5029200"/>
            <a:ext cx="3383280" cy="566928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Un solo simulador global</a:t>
            </a:r>
          </a:p>
          <a:p>
            <a:pPr algn="l"/>
            <a:r>
              <a:rPr sz="850" b="0" i="0">
                <a:solidFill>
                  <a:srgbClr val="E0E4FF"/>
                </a:solidFill>
                <a:latin typeface="Segoe UI"/>
              </a:rPr>
              <a:t>compartido por todas las salas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5029200"/>
            <a:ext cx="4114800" cy="566928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Se necesitaba aislamiento real entre grupos;</a:t>
            </a:r>
          </a:p>
          <a:p>
            <a:pPr algn="l"/>
            <a:r>
              <a:rPr sz="850" b="0" i="0">
                <a:solidFill>
                  <a:srgbClr val="E0E4FF"/>
                </a:solidFill>
                <a:latin typeface="Segoe UI"/>
              </a:rPr>
              <a:t>el costo es memoria/CPU que crece por sala.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596128"/>
            <a:ext cx="3657600" cy="566928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WebSocket STOMP para frames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5596128"/>
            <a:ext cx="3383280" cy="566928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Polling REST periódico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5596128"/>
            <a:ext cx="4114800" cy="566928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Los frames son cada 50ms; polling agregaría</a:t>
            </a:r>
          </a:p>
          <a:p>
            <a:pPr algn="l"/>
            <a:r>
              <a:rPr sz="850" b="0" i="0">
                <a:solidFill>
                  <a:srgbClr val="E0E4FF"/>
                </a:solidFill>
                <a:latin typeface="Segoe UI"/>
              </a:rPr>
              <a:t>latencia y carga innecesaria al backend.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163056"/>
            <a:ext cx="3657600" cy="566928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Hazelcast como espacio compartido</a:t>
            </a:r>
          </a:p>
          <a:p>
            <a:pPr algn="l"/>
            <a:r>
              <a:rPr sz="850" b="0" i="0">
                <a:solidFill>
                  <a:srgbClr val="E0E4FF"/>
                </a:solidFill>
                <a:latin typeface="Segoe UI"/>
              </a:rPr>
              <a:t>(incluso en despliegue de 1 nodo)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6163056"/>
            <a:ext cx="3383280" cy="566928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Estado en memoria local del proceso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6163056"/>
            <a:ext cx="4114800" cy="566928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Prepara el camino a escalar horizontalmente</a:t>
            </a:r>
          </a:p>
          <a:p>
            <a:pPr algn="l"/>
            <a:r>
              <a:rPr sz="850" b="0" i="0">
                <a:solidFill>
                  <a:srgbClr val="E0E4FF"/>
                </a:solidFill>
                <a:latin typeface="Segoe UI"/>
              </a:rPr>
              <a:t>(docker-compose.scale.yml) sin reescribir nada.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4 · EVIDENCIAS TÉCNICAS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Historias de usuario, requerimientos y trazabilidad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BDF8"/>
                </a:solidFill>
                <a:latin typeface="Segoe UI"/>
              </a:rPr>
              <a:t>Backlog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39496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E0E4FF"/>
                </a:solidFill>
                <a:latin typeface="Segoe UI"/>
              </a:rPr>
              <a:t>Historias de usuario y requerimientos gestionados en Jira,</a:t>
            </a:r>
            <a:r>
              <a:rPr sz="1200" b="0" i="0">
                <a:solidFill>
                  <a:srgbClr val="A8B2E0"/>
                </a:solidFill>
                <a:latin typeface="Segoe UI"/>
              </a:rPr>
              <a:t>  con épicas por área (salas, herramientas, eventos, usuarios).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E0E4FF"/>
                </a:solidFill>
                <a:latin typeface="Segoe UI"/>
              </a:rPr>
              <a:t>Las 6 HU de esta sustentación</a:t>
            </a:r>
            <a:r>
              <a:rPr sz="1200" b="0" i="0">
                <a:solidFill>
                  <a:srgbClr val="A8B2E0"/>
                </a:solidFill>
                <a:latin typeface="Segoe UI"/>
              </a:rPr>
              <a:t>  son un subconjunto representativo del tablero completo.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94960" cy="2194560"/>
          </a:xfrm>
          <a:prstGeom prst="roundRect">
            <a:avLst/>
          </a:prstGeom>
          <a:solidFill>
            <a:srgbClr val="1B1F3D"/>
          </a:solidFill>
          <a:ln w="15875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0" i="0">
                <a:solidFill>
                  <a:srgbClr val="A8B2E0"/>
                </a:solidFill>
                <a:latin typeface="Segoe UI"/>
              </a:rPr>
              <a:t>[ Captura del tablero de Jira ]</a:t>
            </a:r>
          </a:p>
          <a:p>
            <a:pPr algn="ctr"/>
            <a:r>
              <a:rPr sz="1100" b="0" i="0">
                <a:solidFill>
                  <a:srgbClr val="A8B2E0"/>
                </a:solidFill>
                <a:latin typeface="Segoe UI"/>
              </a:rPr>
              <a:t/>
            </a:r>
          </a:p>
          <a:p>
            <a:pPr algn="ctr"/>
            <a:r>
              <a:rPr sz="1100" b="0" i="0">
                <a:solidFill>
                  <a:srgbClr val="A8B2E0"/>
                </a:solidFill>
                <a:latin typeface="Segoe UI"/>
              </a:rPr>
              <a:t>Se anexa por separado antes de sustentar.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C55E"/>
                </a:solidFill>
                <a:latin typeface="Segoe UI"/>
              </a:rPr>
              <a:t>Repositorio y trazabilidad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74519"/>
            <a:ext cx="53949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E0E4FF"/>
                </a:solidFill>
                <a:latin typeface="Segoe UI"/>
              </a:rPr>
              <a:t>github.com/brandoeci/CitySim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2 módulos Maven: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simulation-core (dominio puro, sin frameworks) / simulation-engine (Spring, Hazelcast, WebSocket, JPA).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Historial de commits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trazable por funcionalidad: fase de salas multiusuario, catálogo de 6 herramientas administrativas, uno por uno.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Convención de verificación por commit: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mvn clean package -DskipTests → docker compose build/up → prueba real (curl/logs) antes de seguir con la siguiente herramienta.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4 · EVIDENCIAS TÉCNICAS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Pruebas automatizadas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88720" cy="384048"/>
          </a:xfrm>
          <a:prstGeom prst="rect">
            <a:avLst/>
          </a:prstGeom>
          <a:solidFill>
            <a:srgbClr val="3D5AF1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Módulo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463040"/>
            <a:ext cx="3931920" cy="384048"/>
          </a:xfrm>
          <a:prstGeom prst="rect">
            <a:avLst/>
          </a:prstGeom>
          <a:solidFill>
            <a:srgbClr val="3D5AF1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Clase de prueba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463040"/>
            <a:ext cx="5971032" cy="384048"/>
          </a:xfrm>
          <a:prstGeom prst="rect">
            <a:avLst/>
          </a:prstGeom>
          <a:solidFill>
            <a:srgbClr val="3D5AF1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Qué cubre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47088"/>
            <a:ext cx="1188720" cy="402336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847088"/>
            <a:ext cx="3931920" cy="402336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MapFactoryTest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847088"/>
            <a:ext cx="5971032" cy="402336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Generación de la grilla, zonas y avenidas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49424"/>
            <a:ext cx="1188720" cy="402336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2249424"/>
            <a:ext cx="3931920" cy="402336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CarStateTest / TrafficLightPhaseTest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249424"/>
            <a:ext cx="5971032" cy="402336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Modelo de dominio inmutable (builders)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51760"/>
            <a:ext cx="1188720" cy="402336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651760"/>
            <a:ext cx="3931920" cy="402336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EventStateTest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651760"/>
            <a:ext cx="5971032" cy="402336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Reglas de resolución/fallo de eventos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54096"/>
            <a:ext cx="1188720" cy="402336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3054096"/>
            <a:ext cx="3931920" cy="402336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AStarPathFinderTest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3054096"/>
            <a:ext cx="5971032" cy="402336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Cálculo de rutas y vías bloqueadas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1188720" cy="402336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engine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3456432"/>
            <a:ext cx="3931920" cy="402336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CarAgentTest / CollisionAvoiderTest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3456432"/>
            <a:ext cx="5971032" cy="402336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Movimiento, semáforos, colisiones, re-ruteo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58768"/>
            <a:ext cx="1188720" cy="402336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engine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3858768"/>
            <a:ext cx="3931920" cy="402336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JwtServiceTest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3858768"/>
            <a:ext cx="5971032" cy="402336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Emisión/validación de tokens (seguridad)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61104"/>
            <a:ext cx="1188720" cy="402336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engine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4261104"/>
            <a:ext cx="3931920" cy="402336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TrafficLightControllerTest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4261104"/>
            <a:ext cx="5971032" cy="402336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Cruces mayores, fases, forzado de verde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63440"/>
            <a:ext cx="1188720" cy="402336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engine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" y="4663440"/>
            <a:ext cx="3931920" cy="402336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EventObjectiveGeneration/TrackerTest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4663440"/>
            <a:ext cx="5971032" cy="402336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Generación y seguimiento de objetivos por distrito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065776"/>
            <a:ext cx="1188720" cy="402336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engine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7360" y="5065776"/>
            <a:ext cx="3931920" cy="402336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ZoneAssignmentServiceTest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5065776"/>
            <a:ext cx="5971032" cy="402336"/>
          </a:xfrm>
          <a:prstGeom prst="rect">
            <a:avLst/>
          </a:prstGeom>
          <a:solidFill>
            <a:srgbClr val="151830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Balanceo de usuarios entre zonas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468112"/>
            <a:ext cx="1188720" cy="402336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engine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37360" y="5468112"/>
            <a:ext cx="3931920" cy="402336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HazelcastSpaceDataGridRoomPrefixTest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5468112"/>
            <a:ext cx="5971032" cy="402336"/>
          </a:xfrm>
          <a:prstGeom prst="rect">
            <a:avLst/>
          </a:prstGeom>
          <a:solidFill>
            <a:srgbClr val="1B1F3D"/>
          </a:solidFill>
          <a:ln w="15875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50" b="0" i="0">
                <a:solidFill>
                  <a:srgbClr val="E0E4FF"/>
                </a:solidFill>
                <a:latin typeface="Segoe UI"/>
              </a:rPr>
              <a:t>Aislamiento de namespace por sala (integración)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A8B2E0"/>
                </a:solidFill>
                <a:latin typeface="Segoe UI"/>
              </a:rPr>
              <a:t>54 tests, 0 fallos funcionales · JaCoCo mide cobertura en cada build (fase verify) · Gap honesto: sin suite de rendimiento/carga ni de interfaz automatizada aún — hoy se verificó manualmente vía curl/Docker.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4 · EVIDENCIAS TÉCNICAS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Pipeline CI/CD y calidad de código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BDF8"/>
                </a:solidFill>
                <a:latin typeface="Consolas"/>
              </a:rPr>
              <a:t>.github/workflows/ci.yml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3949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Job backend: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mvn clean verify (build + 54 tests + cobertura JaCoCo) en cada push/PR a main.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Job frontend: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npm ci + type-check (tsc --noEmit) + build de producción (ng build).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SonarCloud Scan: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corre con el mismo reporte de JaCoCo como entrada de cobertura, gateado por secret — no rompe el pipeline si aún no está configurado.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AB308"/>
                </a:solidFill>
                <a:latin typeface="Segoe UI"/>
              </a:rPr>
              <a:t>Estado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539496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Pipeline agregado hoy: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antes no existía CI/CD en el repo.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SonarCloud: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workflow y configuración listos; falta el paso manual (vincular cuenta + token) documentado en docs/SONARCLOUD_SETUP.md — no lo puede hacer un agente, requiere la cuenta del autor.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Dato a favor: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el runner de CI usa JDK 21 real (Temurin); los 5 fallos que vemos en local (JDK 25 + Mockito) no deberían reproducirse ahí.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A8B2E0"/>
                </a:solidFill>
                <a:latin typeface="Segoe UI"/>
              </a:rPr>
              <a:t>Evidencia: workflow real agregado al repositorio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321808"/>
            <a:ext cx="11091672" cy="1078992"/>
          </a:xfrm>
          <a:prstGeom prst="rect">
            <a:avLst/>
          </a:prstGeom>
          <a:solidFill>
            <a:srgbClr val="080914"/>
          </a:solidFill>
          <a:ln w="12700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l"/>
            <a:r>
              <a:rPr sz="1150" b="0" i="0">
                <a:solidFill>
                  <a:srgbClr val="A8B2E0"/>
                </a:solidFill>
                <a:latin typeface="Consolas"/>
              </a:rPr>
              <a:t># .github/workflows/ci.yml (fragmento)</a:t>
            </a:r>
          </a:p>
          <a:p>
            <a:pPr algn="l"/>
            <a:r>
              <a:rPr sz="1150" b="0" i="0">
                <a:solidFill>
                  <a:srgbClr val="E0E4FF"/>
                </a:solidFill>
                <a:latin typeface="Consolas"/>
              </a:rPr>
              <a:t>- name: Build and test</a:t>
            </a:r>
          </a:p>
          <a:p>
            <a:pPr algn="l"/>
            <a:r>
              <a:rPr sz="1150" b="0" i="0">
                <a:solidFill>
                  <a:srgbClr val="E0E4FF"/>
                </a:solidFill>
                <a:latin typeface="Consolas"/>
              </a:rPr>
              <a:t>  run: mvn -B clean verify</a:t>
            </a:r>
          </a:p>
          <a:p>
            <a:pPr algn="l"/>
            <a:r>
              <a:rPr sz="1150" b="0" i="0">
                <a:solidFill>
                  <a:srgbClr val="E0E4FF"/>
                </a:solidFill>
                <a:latin typeface="Consolas"/>
              </a:rPr>
              <a:t>- name: SonarCloud Scan</a:t>
            </a:r>
          </a:p>
          <a:p>
            <a:pPr algn="l"/>
            <a:r>
              <a:rPr sz="1150" b="0" i="0">
                <a:solidFill>
                  <a:srgbClr val="E0E4FF"/>
                </a:solidFill>
                <a:latin typeface="Consolas"/>
              </a:rPr>
              <a:t>  if: ${{ secrets.SONAR_TOKEN != '' }}</a:t>
            </a:r>
          </a:p>
          <a:p>
            <a:pPr algn="l"/>
            <a:r>
              <a:rPr sz="1150" b="0" i="0">
                <a:solidFill>
                  <a:srgbClr val="E0E4FF"/>
                </a:solidFill>
                <a:latin typeface="Consolas"/>
              </a:rPr>
              <a:t>  run: mvn -B sonar-maven-plugin:sonar -Dsonar.host.url=https://sonarcloud.io 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4 · EVIDENCIAS TÉCNICAS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Evidencia de los atributos de calidad y del caso en tiempo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A8B2E0"/>
                </a:solidFill>
                <a:latin typeface="Segoe UI"/>
              </a:rPr>
              <a:t>Rendimiento / Concurrencia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5440680" cy="1307592"/>
          </a:xfrm>
          <a:prstGeom prst="rect">
            <a:avLst/>
          </a:prstGeom>
          <a:solidFill>
            <a:srgbClr val="080914"/>
          </a:solidFill>
          <a:ln w="12700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l"/>
            <a:r>
              <a:rPr sz="1150" b="0" i="0">
                <a:solidFill>
                  <a:srgbClr val="22C55E"/>
                </a:solidFill>
                <a:latin typeface="Consolas"/>
              </a:rPr>
              <a:t>$ curl .../api/tools/speed-overrides   # a los 50s</a:t>
            </a:r>
          </a:p>
          <a:p>
            <a:pPr algn="l"/>
            <a:r>
              <a:rPr sz="1150" b="0" i="0">
                <a:solidFill>
                  <a:srgbClr val="E0E4FF"/>
                </a:solidFill>
                <a:latin typeface="Consolas"/>
              </a:rPr>
              <a:t>{"overrides":{"E_H_1_1":{"factor":0.5,...}}}</a:t>
            </a:r>
          </a:p>
          <a:p>
            <a:pPr algn="l"/>
            <a:r>
              <a:rPr sz="1150" b="0" i="0">
                <a:solidFill>
                  <a:srgbClr val="A8B2E0"/>
                </a:solidFill>
                <a:latin typeface="Consolas"/>
              </a:rPr>
              <a:t># Turbo (45s) ya no aparece; Reductor (60s) sigue</a:t>
            </a:r>
          </a:p>
          <a:p>
            <a:pPr algn="l"/>
            <a:r>
              <a:rPr sz="1150" b="0" i="0">
                <a:solidFill>
                  <a:srgbClr val="A8B2E0"/>
                </a:solidFill>
                <a:latin typeface="Consolas"/>
              </a:rPr>
              <a:t># activo -&gt; expiracion por tick, sin drift de reloj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0876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A8B2E0"/>
                </a:solidFill>
                <a:latin typeface="Segoe UI"/>
              </a:rPr>
              <a:t>Disponibilidad / Aislamiento multi-sala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801368"/>
            <a:ext cx="5394960" cy="1307592"/>
          </a:xfrm>
          <a:prstGeom prst="rect">
            <a:avLst/>
          </a:prstGeom>
          <a:solidFill>
            <a:srgbClr val="080914"/>
          </a:solidFill>
          <a:ln w="12700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l"/>
            <a:r>
              <a:rPr sz="1150" b="0" i="0">
                <a:solidFill>
                  <a:srgbClr val="E0E4FF"/>
                </a:solidFill>
                <a:latin typeface="Consolas"/>
              </a:rPr>
              <a:t>Sala KDLUZN arrancada</a:t>
            </a:r>
          </a:p>
          <a:p>
            <a:pPr algn="l"/>
            <a:r>
              <a:rPr sz="1150" b="0" i="0">
                <a:solidFill>
                  <a:srgbClr val="E0E4FF"/>
                </a:solidFill>
                <a:latin typeface="Consolas"/>
              </a:rPr>
              <a:t>Instance 733...a7 owns 100/100 zones</a:t>
            </a:r>
          </a:p>
          <a:p>
            <a:pPr algn="l"/>
            <a:r>
              <a:rPr sz="1150" b="0" i="0">
                <a:solidFill>
                  <a:srgbClr val="E0E4FF"/>
                </a:solidFill>
                <a:latin typeface="Consolas"/>
              </a:rPr>
              <a:t>Sala PKZNIH arrancada</a:t>
            </a:r>
          </a:p>
          <a:p>
            <a:pPr algn="l"/>
            <a:r>
              <a:rPr sz="1150" b="0" i="0">
                <a:solidFill>
                  <a:srgbClr val="E0E4FF"/>
                </a:solidFill>
                <a:latin typeface="Consolas"/>
              </a:rPr>
              <a:t>Instance 845...10 owns 100/100 zones</a:t>
            </a:r>
          </a:p>
          <a:p>
            <a:pPr algn="l"/>
            <a:r>
              <a:rPr sz="1150" b="0" i="0">
                <a:solidFill>
                  <a:srgbClr val="A8B2E0"/>
                </a:solidFill>
                <a:latin typeface="Consolas"/>
              </a:rPr>
              <a:t># 2 salas, ownership de zonas totalmente separado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A8B2E0"/>
                </a:solidFill>
                <a:latin typeface="Segoe UI"/>
              </a:rPr>
              <a:t>Seguridad / Modificabilidad (misma validación en las 6 herramientas)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21608"/>
            <a:ext cx="5440680" cy="1124712"/>
          </a:xfrm>
          <a:prstGeom prst="rect">
            <a:avLst/>
          </a:prstGeom>
          <a:solidFill>
            <a:srgbClr val="080914"/>
          </a:solidFill>
          <a:ln w="12700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l"/>
            <a:r>
              <a:rPr sz="1150" b="0" i="0">
                <a:solidFill>
                  <a:srgbClr val="22C55E"/>
                </a:solidFill>
                <a:latin typeface="Consolas"/>
              </a:rPr>
              <a:t>$ curl .../api/tools/force-green (fuera de mi distrito)</a:t>
            </a:r>
          </a:p>
          <a:p>
            <a:pPr algn="l"/>
            <a:r>
              <a:rPr sz="1150" b="0" i="0">
                <a:solidFill>
                  <a:srgbClr val="E0E4FF"/>
                </a:solidFill>
                <a:latin typeface="Consolas"/>
              </a:rPr>
              <a:t>{"error":"Ese cruce no esta en tu distrito"}</a:t>
            </a:r>
          </a:p>
          <a:p>
            <a:pPr algn="l"/>
            <a:r>
              <a:rPr sz="1150" b="0" i="0">
                <a:solidFill>
                  <a:srgbClr val="22C55E"/>
                </a:solidFill>
                <a:latin typeface="Consolas"/>
              </a:rPr>
              <a:t>$ curl .../api/tools/district-shield</a:t>
            </a:r>
          </a:p>
          <a:p>
            <a:pPr algn="l"/>
            <a:r>
              <a:rPr sz="1150" b="0" i="0">
                <a:solidFill>
                  <a:srgbClr val="E0E4FF"/>
                </a:solidFill>
                <a:latin typeface="Consolas"/>
              </a:rPr>
              <a:t>{"shielded":true,"edgeCount":400,...} -&gt; a los 22s: count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42900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A8B2E0"/>
                </a:solidFill>
                <a:latin typeface="Segoe UI"/>
              </a:rPr>
              <a:t>Observabilidad (mensajes de error explícitos + logs por sala)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721608"/>
            <a:ext cx="5394960" cy="1124712"/>
          </a:xfrm>
          <a:prstGeom prst="rect">
            <a:avLst/>
          </a:prstGeom>
          <a:solidFill>
            <a:srgbClr val="080914"/>
          </a:solidFill>
          <a:ln w="12700">
            <a:solidFill>
              <a:srgbClr val="4A5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l"/>
            <a:r>
              <a:rPr sz="1150" b="0" i="0">
                <a:solidFill>
                  <a:srgbClr val="22C55E"/>
                </a:solidFill>
                <a:latin typeface="Consolas"/>
              </a:rPr>
              <a:t>$ curl .../api/tools/traffic-bomb</a:t>
            </a:r>
          </a:p>
          <a:p>
            <a:pPr algn="l"/>
            <a:r>
              <a:rPr sz="1150" b="0" i="0">
                <a:solidFill>
                  <a:srgbClr val="E0E4FF"/>
                </a:solidFill>
                <a:latin typeface="Consolas"/>
              </a:rPr>
              <a:t>{"error":"Espera 51s para volver a usar..."}</a:t>
            </a:r>
          </a:p>
          <a:p>
            <a:pPr algn="l"/>
            <a:r>
              <a:rPr sz="1150" b="0" i="0">
                <a:solidFill>
                  <a:srgbClr val="A8B2E0"/>
                </a:solidFill>
                <a:latin typeface="Consolas"/>
              </a:rPr>
              <a:t># cooldown por usuario, independiente por sala</a:t>
            </a:r>
          </a:p>
          <a:p>
            <a:pPr algn="l"/>
            <a:r>
              <a:rPr sz="1150" b="0" i="0">
                <a:solidFill>
                  <a:srgbClr val="A8B2E0"/>
                </a:solidFill>
                <a:latin typeface="Consolas"/>
              </a:rPr>
              <a:t># (verificado con 2 administradores en paralelo)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8B2E0"/>
                </a:solidFill>
                <a:latin typeface="Segoe UI"/>
              </a:rPr>
              <a:t>Caso de uso en tiempo real: cada una de estas pruebas se hizo contra el sistema realmente corriendo en Docker (backend + Hazelcast + Postgres), viendo los carros y semáforos moverse en vivo por WebSocket mientras se aplicaba cada herramienta — no son valores mockeados ni capturas de otro entorno.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B9FFF"/>
                </a:solidFill>
                <a:latin typeface="Segoe UI"/>
              </a:rPr>
              <a:t>5 ·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E4FF"/>
                </a:solidFill>
                <a:latin typeface="Segoe UI"/>
              </a:rPr>
              <a:t>Fortalezas, riesgos y trabajo futuro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38100"/>
          </a:xfrm>
          <a:prstGeom prst="rect">
            <a:avLst/>
          </a:prstGeom>
          <a:solidFill>
            <a:srgbClr val="3D5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C8A"/>
                </a:solidFill>
                <a:latin typeface="Segoe UI"/>
              </a:rPr>
              <a:t>CitySim  ·  Arquitecturas de Software  ·  Intersemestral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C55E"/>
                </a:solidFill>
                <a:latin typeface="Segoe UI"/>
              </a:rPr>
              <a:t>Fortalezas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356616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Aislamiento real multi-sala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verificado con 2 salas concurrentes.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Catálogo de 6 herramientas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con validación de distrito y expiración por tick, consistentes entre sí.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Arquitectura preparada para escalar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horizontalmente sin cambiar código (SBA + Hazelcast).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50876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F4444"/>
                </a:solidFill>
                <a:latin typeface="Segoe UI"/>
              </a:rPr>
              <a:t>Riesgos técnicos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874519"/>
            <a:ext cx="356616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Costo de memoria/CPU por sala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crece linealmente (cada sala = su propio simulador).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Eventos no están scopeados por sala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en Postgres todavía (solo en Hazelcast).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Sin CI/CD ni análisis estático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(SonarQube/SonarCloud) integrados aún.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508760"/>
            <a:ext cx="33649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BDF8"/>
                </a:solidFill>
                <a:latin typeface="Segoe UI"/>
              </a:rPr>
              <a:t>Trabajo futuro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874519"/>
            <a:ext cx="3364992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Límite de salas concurrentes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en RoomManager.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Pipeline CI (build+test)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en GitHub Actions.</a:t>
            </a:r>
          </a:p>
          <a:p>
            <a:pPr>
              <a:spcAft>
                <a:spcPts val="1000"/>
              </a:spcAft>
            </a:pPr>
            <a:r>
              <a:rPr sz="1250" b="1" i="0">
                <a:solidFill>
                  <a:srgbClr val="7B9FFF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E0E4FF"/>
                </a:solidFill>
                <a:latin typeface="Segoe UI"/>
              </a:rPr>
              <a:t>SonarCloud</a:t>
            </a:r>
            <a:r>
              <a:rPr sz="1150" b="0" i="0">
                <a:solidFill>
                  <a:srgbClr val="A8B2E0"/>
                </a:solidFill>
                <a:latin typeface="Segoe UI"/>
              </a:rPr>
              <a:t>  para calidad de código continua.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806440"/>
            <a:ext cx="11091672" cy="777240"/>
          </a:xfrm>
          <a:prstGeom prst="roundRect">
            <a:avLst/>
          </a:prstGeom>
          <a:solidFill>
            <a:srgbClr val="1B1F3D"/>
          </a:solidFill>
          <a:ln w="15875">
            <a:solidFill>
              <a:srgbClr val="3D5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0" i="0">
                <a:solidFill>
                  <a:srgbClr val="E0E4FF"/>
                </a:solidFill>
                <a:latin typeface="Segoe UI"/>
              </a:rPr>
              <a:t>Conclusión: las funcionalidades, los atributos de calidad priorizados y las decisiones arquitectónicas (SBA + aislamiento por sala)</a:t>
            </a:r>
          </a:p>
          <a:p>
            <a:pPr algn="ctr"/>
            <a:r>
              <a:rPr sz="1000" b="0" i="0">
                <a:solidFill>
                  <a:srgbClr val="E0E4FF"/>
                </a:solidFill>
                <a:latin typeface="Segoe UI"/>
              </a:rPr>
              <a:t>son coherentes entre sí — cada herramienta nueva se verificó end-to-end antes de continuar con la siguiente.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